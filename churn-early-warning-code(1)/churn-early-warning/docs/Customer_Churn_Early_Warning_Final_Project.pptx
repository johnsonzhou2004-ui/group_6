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Customers</c:v>
                </c:pt>
              </c:strCache>
            </c:strRef>
          </c:tx>
          <c:spPr>
            <a:solidFill>
              <a:schemeClr val="accent1"/>
            </a:solidFill>
            <a:ln w="9525" cap="flat">
              <a:solidFill>
                <a:srgbClr val="F9F9F9"/>
              </a:solidFill>
              <a:prstDash val="solid"/>
              <a:round/>
            </a:ln>
            <a:effectLst/>
          </c:spPr>
          <c:dPt>
            <c:idx val="0"/>
            <c:bubble3D val="0"/>
            <c:spPr>
              <a:solidFill>
                <a:srgbClr val="E4572E"/>
              </a:solidFill>
              <a:ln w="9525" cap="flat">
                <a:solidFill>
                  <a:srgbClr val="12355B"/>
                </a:solidFill>
                <a:prstDash val="solid"/>
                <a:round/>
              </a:ln>
              <a:effectLst/>
            </c:spPr>
          </c:dPt>
          <c:dPt>
            <c:idx val="1"/>
            <c:bubble3D val="0"/>
            <c:spPr>
              <a:solidFill>
                <a:srgbClr val="2B4F7E"/>
              </a:solidFill>
              <a:ln w="9525" cap="flat">
                <a:solidFill>
                  <a:srgbClr val="12355B"/>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Churned</c:v>
                </c:pt>
                <c:pt idx="1">
                  <c:v>Stayed</c:v>
                </c:pt>
              </c:strCache>
            </c:strRef>
          </c:cat>
          <c:val>
            <c:numRef>
              <c:f>Sheet1!$B$2:$B$3</c:f>
              <c:numCache>
                <c:ptCount val="2"/>
                <c:pt idx="0">
                  <c:v>26.54</c:v>
                </c:pt>
                <c:pt idx="1">
                  <c:v>73.46</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Churn rate (%)</c:v>
                </c:pt>
              </c:strCache>
            </c:strRef>
          </c:tx>
          <c:spPr>
            <a:solidFill>
              <a:srgbClr val="E4572E"/>
            </a:solidFill>
            <a:effectLst/>
          </c:spPr>
          <c:invertIfNegative val="0"/>
          <c:dLbls>
            <c:numFmt formatCode="0.0&quot;%&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12355B"/>
              </a:solidFill>
              <a:effectLst/>
            </c:spPr>
          </c:dPt>
          <c:dPt>
            <c:idx val="2"/>
            <c:invertIfNegative val="0"/>
            <c:bubble3D val="0"/>
            <c:spPr>
              <a:solidFill>
                <a:srgbClr val="12355B"/>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42.71</c:v>
                </c:pt>
                <c:pt idx="1">
                  <c:v>11.27</c:v>
                </c:pt>
                <c:pt idx="2">
                  <c:v>2.83</c:v>
                </c:pt>
              </c:numCache>
            </c:numRef>
          </c:val>
        </c:ser>
        <c:dLbls>
          <c:numFmt formatCode="0.0&quot;%&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Coefficient</c:v>
                </c:pt>
              </c:strCache>
            </c:strRef>
          </c:tx>
          <c:spPr>
            <a:solidFill>
              <a:srgbClr val="E4572E"/>
            </a:solidFill>
            <a:effectLst/>
          </c:spPr>
          <c:invertIfNegative val="0"/>
          <c:dLbls>
            <c:numFmt formatCode="+0.00;-0.00"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1B998B"/>
              </a:solidFill>
              <a:effectLst/>
            </c:spPr>
          </c:dPt>
          <c:dPt>
            <c:idx val="1"/>
            <c:invertIfNegative val="0"/>
            <c:bubble3D val="0"/>
            <c:spPr>
              <a:solidFill>
                <a:srgbClr val="1B998B"/>
              </a:solidFill>
              <a:effectLst/>
            </c:spPr>
          </c:dPt>
          <c:dPt>
            <c:idx val="2"/>
            <c:invertIfNegative val="0"/>
            <c:bubble3D val="0"/>
            <c:spPr>
              <a:solidFill>
                <a:srgbClr val="E4572E"/>
              </a:solidFill>
              <a:effectLst/>
            </c:spPr>
          </c:dPt>
          <c:dPt>
            <c:idx val="3"/>
            <c:invertIfNegative val="0"/>
            <c:bubble3D val="0"/>
            <c:spPr>
              <a:solidFill>
                <a:srgbClr val="E4572E"/>
              </a:solidFill>
              <a:effectLst/>
            </c:spPr>
          </c:dPt>
          <c:dPt>
            <c:idx val="4"/>
            <c:invertIfNegative val="0"/>
            <c:bubble3D val="0"/>
            <c:spPr>
              <a:solidFill>
                <a:srgbClr val="E4572E"/>
              </a:solidFill>
              <a:effectLst/>
            </c:spPr>
          </c:dPt>
          <c:dPt>
            <c:idx val="5"/>
            <c:invertIfNegative val="0"/>
            <c:bubble3D val="0"/>
            <c:spPr>
              <a:solidFill>
                <a:srgbClr val="E4572E"/>
              </a:solidFill>
              <a:effectLst/>
            </c:spPr>
          </c:dPt>
          <c:dPt>
            <c:idx val="6"/>
            <c:invertIfNegative val="0"/>
            <c:bubble3D val="0"/>
            <c:spPr>
              <a:solidFill>
                <a:srgbClr val="E4572E"/>
              </a:solidFill>
              <a:effectLst/>
            </c:spPr>
          </c:dPt>
          <c:dPt>
            <c:idx val="7"/>
            <c:invertIfNegative val="0"/>
            <c:bubble3D val="0"/>
            <c:spPr>
              <a:solidFill>
                <a:srgbClr val="E4572E"/>
              </a:solidFill>
              <a:effectLst/>
            </c:spPr>
          </c:dPt>
          <c:cat>
            <c:multiLvlStrRef>
              <c:f>Sheet1!$A$2:$A$9</c:f>
              <c:multiLvlStrCache>
                <c:ptCount val="8"/>
                <c:lvl>
                  <c:pt idx="0">
                    <c:v>Tenure (per +1 SD)</c:v>
                  </c:pt>
                  <c:pt idx="1">
                    <c:v>Two-year contract</c:v>
                  </c:pt>
                  <c:pt idx="2">
                    <c:v>No Tech Support</c:v>
                  </c:pt>
                  <c:pt idx="3">
                    <c:v>No Online Security</c:v>
                  </c:pt>
                  <c:pt idx="4">
                    <c:v>Electronic check payment</c:v>
                  </c:pt>
                  <c:pt idx="5">
                    <c:v>Fiber optic plan</c:v>
                  </c:pt>
                  <c:pt idx="6">
                    <c:v>Monthly charges (per +1 SD)</c:v>
                  </c:pt>
                  <c:pt idx="7">
                    <c:v>Month-to-month contract</c:v>
                  </c:pt>
                </c:lvl>
              </c:multiLvlStrCache>
            </c:multiLvlStrRef>
          </c:cat>
          <c:val>
            <c:numRef>
              <c:f>Sheet1!$B$2:$B$9</c:f>
              <c:numCache>
                <c:formatCode>General</c:formatCode>
                <c:ptCount val="8"/>
                <c:pt idx="0">
                  <c:v>-0.84</c:v>
                </c:pt>
                <c:pt idx="1">
                  <c:v>-0.75</c:v>
                </c:pt>
                <c:pt idx="2">
                  <c:v>0.13</c:v>
                </c:pt>
                <c:pt idx="3">
                  <c:v>0.14</c:v>
                </c:pt>
                <c:pt idx="4">
                  <c:v>0.19</c:v>
                </c:pt>
                <c:pt idx="5">
                  <c:v>0.26</c:v>
                </c:pt>
                <c:pt idx="6">
                  <c:v>0.31</c:v>
                </c:pt>
                <c:pt idx="7">
                  <c:v>0.57</c:v>
                </c:pt>
              </c:numCache>
            </c:numRef>
          </c:val>
        </c:ser>
        <c:dLbls>
          <c:numFmt formatCode="+0.00;-0.00"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
          <c:min val="-1.5"/>
        </c:scaling>
        <c:delete val="0"/>
        <c:axPos val="b"/>
        <c:majorGridlines>
          <c:spPr>
            <a:ln w="9525" cap="flat">
              <a:solidFill>
                <a:srgbClr val="E2E8F0"/>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Actual churn rate (%)</c:v>
                </c:pt>
              </c:strCache>
            </c:strRef>
          </c:tx>
          <c:spPr>
            <a:solidFill>
              <a:srgbClr val="9BC4A8"/>
            </a:solidFill>
            <a:effectLst/>
          </c:spPr>
          <c:invertIfNegative val="0"/>
          <c:dLbls>
            <c:numFmt formatCode="0.0&quot;%&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9BC4A8"/>
              </a:solidFill>
              <a:effectLst/>
            </c:spPr>
          </c:dPt>
          <c:dPt>
            <c:idx val="1"/>
            <c:invertIfNegative val="0"/>
            <c:bubble3D val="0"/>
            <c:spPr>
              <a:solidFill>
                <a:srgbClr val="F2C14E"/>
              </a:solidFill>
              <a:effectLst/>
            </c:spPr>
          </c:dPt>
          <c:dPt>
            <c:idx val="2"/>
            <c:invertIfNegative val="0"/>
            <c:bubble3D val="0"/>
            <c:spPr>
              <a:solidFill>
                <a:srgbClr val="F28C38"/>
              </a:solidFill>
              <a:effectLst/>
            </c:spPr>
          </c:dPt>
          <c:dPt>
            <c:idx val="3"/>
            <c:invertIfNegative val="0"/>
            <c:bubble3D val="0"/>
            <c:spPr>
              <a:solidFill>
                <a:srgbClr val="E4572E"/>
              </a:solidFill>
              <a:effectLst/>
            </c:spPr>
          </c:dPt>
          <c:cat>
            <c:multiLvlStrRef>
              <c:f>Sheet1!$A$2:$A$5</c:f>
              <c:multiLvlStrCache>
                <c:ptCount val="4"/>
                <c:lvl>
                  <c:pt idx="0">
                    <c:v>Low (n=4,084)</c:v>
                  </c:pt>
                  <c:pt idx="1">
                    <c:v>Medium (n=1,407)</c:v>
                  </c:pt>
                  <c:pt idx="2">
                    <c:v>High (n=1,315)</c:v>
                  </c:pt>
                  <c:pt idx="3">
                    <c:v>Critical (n=237)</c:v>
                  </c:pt>
                </c:lvl>
              </c:multiLvlStrCache>
            </c:multiLvlStrRef>
          </c:cat>
          <c:val>
            <c:numRef>
              <c:f>Sheet1!$B$2:$B$5</c:f>
              <c:numCache>
                <c:formatCode>General</c:formatCode>
                <c:ptCount val="4"/>
                <c:pt idx="0">
                  <c:v>8.8</c:v>
                </c:pt>
                <c:pt idx="1">
                  <c:v>35.1</c:v>
                </c:pt>
                <c:pt idx="2">
                  <c:v>62.3</c:v>
                </c:pt>
                <c:pt idx="3">
                  <c:v>82.7</c:v>
                </c:pt>
              </c:numCache>
            </c:numRef>
          </c:val>
        </c:ser>
        <c:dLbls>
          <c:numFmt formatCode="0.0&quot;%&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2E8F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benefit (USD k)</c:v>
                </c:pt>
              </c:strCache>
            </c:strRef>
          </c:tx>
          <c:spPr>
            <a:solidFill>
              <a:srgbClr val="E4572E"/>
            </a:solidFill>
            <a:effectLst/>
          </c:spPr>
          <c:invertIfNegative val="0"/>
          <c:dLbls>
            <c:numFmt formatCode="&quot;$&quot;0.0&quot;k&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F28C38"/>
              </a:solidFill>
              <a:effectLst/>
            </c:spPr>
          </c:dPt>
          <c:dPt>
            <c:idx val="2"/>
            <c:invertIfNegative val="0"/>
            <c:bubble3D val="0"/>
            <c:spPr>
              <a:solidFill>
                <a:srgbClr val="F2C14E"/>
              </a:solidFill>
              <a:effectLst/>
            </c:spPr>
          </c:dPt>
          <c:dPt>
            <c:idx val="3"/>
            <c:invertIfNegative val="0"/>
            <c:bubble3D val="0"/>
            <c:spPr>
              <a:solidFill>
                <a:srgbClr val="9BC4A8"/>
              </a:solidFill>
              <a:effectLst/>
            </c:spPr>
          </c:dPt>
          <c:cat>
            <c:multiLvlStrRef>
              <c:f>Sheet1!$A$2:$A$5</c:f>
              <c:multiLvlStrCache>
                <c:ptCount val="4"/>
                <c:lvl>
                  <c:pt idx="0">
                    <c:v>Critical (ROI 657%)</c:v>
                  </c:pt>
                  <c:pt idx="1">
                    <c:v>High (ROI 590%)</c:v>
                  </c:pt>
                  <c:pt idx="2">
                    <c:v>Medium (ROI 431%)</c:v>
                  </c:pt>
                  <c:pt idx="3">
                    <c:v>Low (ROI 75%)</c:v>
                  </c:pt>
                </c:lvl>
              </c:multiLvlStrCache>
            </c:multiLvlStrRef>
          </c:cat>
          <c:val>
            <c:numRef>
              <c:f>Sheet1!$B$2:$B$5</c:f>
              <c:numCache>
                <c:formatCode>General</c:formatCode>
                <c:ptCount val="4"/>
                <c:pt idx="0">
                  <c:v>8.9</c:v>
                </c:pt>
                <c:pt idx="1">
                  <c:v>75.5</c:v>
                </c:pt>
                <c:pt idx="2">
                  <c:v>67.2</c:v>
                </c:pt>
                <c:pt idx="3">
                  <c:v>27.2</c:v>
                </c:pt>
              </c:numCache>
            </c:numRef>
          </c:val>
        </c:ser>
        <c:dLbls>
          <c:numFmt formatCode="&quot;$&quot;0.0&quot;k&quot;" sourceLinked="0"/>
          <c:txPr>
            <a:bodyPr/>
            <a:lstStyle/>
            <a:p>
              <a:pPr>
                <a:defRPr b="1" i="0" strike="noStrike" sz="1400" u="none">
                  <a:solidFill>
                    <a:srgbClr val="1F293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8F0"/>
              </a:solidFill>
              <a:prstDash val="solid"/>
              <a:round/>
            </a:ln>
          </c:spPr>
        </c:majorGridlines>
        <c:numFmt formatCode="&quot;$&quot;0&quot;k&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4"/>
        <c:crosses val="autoZero"/>
        <c:crossBetween val="between"/>
        <c:majorUnit val="3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more than a quarter of the customers in this telecom dataset churned. Our product warns the retention team before that happens, explains why each customer is at risk, and drafts a verified call script. The workflow follows the brief: data, SQL database, Python, dashboard, business insight, with a GenAI feature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Telco Customer Churn, 7,043 customers. 1,869 churned, which is 26.5%, and together they paid USD 139,131 a month. The business problem is that the company can only react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users are customer-success teams, call-centre agents and marketing staff. The decision: who to contact, with what offer, and whether it pays back. We use telecom data as the proof case; a bank or insurer with contract, tenure and payment data would follow the same workflow but needs its own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required stack: SQL tables, queries, joins and aggregations in the back end; Python for wrangling and the model; a Streamlit dashboard as the front end; a GenAI feature that helps the user decide; and a GitHub-ready repository with a README. One command, run_pipeline.py, rebuilds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 separates who the customer is, what they subscribe to, how they pay, and the model's scores. The 11 blank TotalCharges values are all new customers who have not been billed yet, so they are NULL rather than zero or an average. The ETL asserts that each table holds exactly 7,043 rows. The eleven named queries cover joins, filters, group-bys, HAVING, a CTE and a window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Month-to-month customers churn at 42.7%, one-year at 11.3%, two-year at 2.8%. This comes from the churn_by_contract query. Risk is also front-loaded: 47.4% churn in the first year of tenure.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heatmap combines two of the biggest drivers. The two-year first-year cells show 0.0% but rest on small groups (68 and 90 customers), so read them as very low. The worst cell is month-to-month, first year, and the query high_risk_segments shows that fiber customers in that cell churn at 70.2%. The add-on comparison covers customers with internet service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and gradient boosting score the same on the hold-out set, so we keep the model whose predictions can be broken into reasons an agent can read. Gender and TotalCharges are not used. TotalCharges is roughly tenure times monthly charge, which made the coefficients misleading; removing it changed AUC by less than 0.002. Longer tenure and two-year contracts lower risk; month-to-month, higher bills, fiber and electronic check raise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Tiers cut the predicted probability at 25%, 50% and 75%. Every customer is scored by a model that never saw them (5-fold out-of-fold scores), so this back-test is honest. Flagging the High and Critical tiers means calling 22% of customers while reaching 54% of the churners, and about two in three flagged customers really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tabs. The sidebar filters by contract, internet service and tenure band and switches between active customers (the call-list view) and all customers (the back-test). In the default view there are 5,174 active customers, 537 of them High or Critical. We ran the app headless: every tab opens, filters toggle and the script button works without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never decides the offer or a price. Offers are selected by rules from the customer's real situation; the model only words them. Every script then passes a verifier that checks every amount, percentage and duration against the customer's real data and the approved offers, rejects sensitive or forbidden wording, and checks length and a closing question. If an LLM output fails, it is replaced by the template and labelled. The live LLM call is optional and was not exercised in our test run, which had no API key; the template path, verifier and fallback were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are illustrative and editable in the dashboard: USD 8 per contact, 30% of would-be churners saved, saved customers keep 12 months of revenue, and the retention discount costs 10% of that revenue. Only active customers count, because a customer who has already left cannot be saved. At the High plus Critical operating point the expected net benefit is about USD 84 thousand with a ROI near 596 percent; at a 10 percent save rate it is still 333 percent. The Low tier returns only 75 percent, so it is not worth calling. The save rate is an assumption, not a measurement, so we recommend an A/B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brief's last prompt: keep the project simple but complete, with verification of AI outputs. Left: what we checked. Right: what to keep in mind. The data is a single snapshot, so the dashboard shows relative risk and the ROI tab is decision support,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 start with the High and Critical active customers and use the approved offers that match their situation: a discounted one-year contract for monthly fiber customers, automatic payment for electronic-check payers, and security or tech-support bundles for customers without them. Next steps: time-stamped data, an A/B test to measure the real save rate, an uplift model, and CRM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2355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60350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77640"/>
            <a:ext cx="5852160" cy="914400"/>
          </a:xfrm>
          <a:prstGeom prst="rect">
            <a:avLst/>
          </a:prstGeom>
          <a:noFill/>
          <a:ln/>
        </p:spPr>
        <p:txBody>
          <a:bodyPr wrap="square" rtlCol="0"/>
          <a:lstStyle>
            <a:lvl1pPr algn="l" indent="0" marL="0">
              <a:buNone/>
              <a:defRPr lang="en-US" sz="2000" dirty="0">
                <a:solidFill>
                  <a:srgbClr val="CADCF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5B6575"/>
                </a:solidFill>
              </a:rPr>
              <a:t>Customer Churn Early-Warning Dashboard  |  BA6003 Final Project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12355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CADCFC"/>
                </a:solidFill>
              </a:rPr>
              <a:t>Customer Churn Early-Warning Dashboard  |  BA6003 Final Project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6035040" cy="1737360"/>
          </a:xfrm>
          <a:prstGeom prst="rect">
            <a:avLst/>
          </a:prstGeom>
          <a:noFill/>
          <a:ln/>
        </p:spPr>
        <p:txBody>
          <a:bodyPr wrap="square" lIns="0" tIns="0" rIns="0" bIns="0" rtlCol="0" anchor="t"/>
          <a:lstStyle/>
          <a:p>
            <a:pPr algn="l" indent="0" marL="0">
              <a:buNone/>
            </a:pPr>
            <a:r>
              <a:rPr lang="en-US" sz="4400" b="1" dirty="0">
                <a:solidFill>
                  <a:schemeClr val="bg1"/>
                </a:solidFill>
              </a:rPr>
              <a:t>Customer Churn Early-Warning Dashboard</a:t>
            </a:r>
            <a:endParaRPr lang="en-US" sz="4400" dirty="0"/>
          </a:p>
        </p:txBody>
      </p:sp>
      <p:sp>
        <p:nvSpPr>
          <p:cNvPr id="3" name="Text 0"/>
          <p:cNvSpPr/>
          <p:nvPr>
            <p:ph idx="101" type="body" hasCustomPrompt="1"/>
          </p:nvPr>
        </p:nvSpPr>
        <p:spPr>
          <a:xfrm>
            <a:off x="731520" y="3977640"/>
            <a:ext cx="5852160" cy="914400"/>
          </a:xfrm>
          <a:prstGeom prst="rect">
            <a:avLst/>
          </a:prstGeom>
          <a:noFill/>
          <a:ln/>
        </p:spPr>
        <p:txBody>
          <a:bodyPr wrap="square" lIns="0" tIns="0" rIns="0" bIns="0" rtlCol="0" anchor="t"/>
          <a:lstStyle/>
          <a:p>
            <a:pPr algn="l" indent="0" marL="0">
              <a:buNone/>
            </a:pPr>
            <a:r>
              <a:rPr lang="en-US" sz="2000" dirty="0">
                <a:solidFill>
                  <a:srgbClr val="CADCFC"/>
                </a:solidFill>
              </a:rPr>
              <a:t>Predict who will leave, explain why, and tell the agent what to say</a:t>
            </a:r>
            <a:endParaRPr lang="en-US" sz="2000" dirty="0"/>
          </a:p>
        </p:txBody>
      </p:sp>
      <p:sp>
        <p:nvSpPr>
          <p:cNvPr id="4" name="Course line"/>
          <p:cNvSpPr txBox="1"/>
          <p:nvPr/>
        </p:nvSpPr>
        <p:spPr>
          <a:xfrm>
            <a:off x="731520" y="5989320"/>
            <a:ext cx="6400800" cy="320040"/>
          </a:xfrm>
          <a:prstGeom prst="rect">
            <a:avLst/>
          </a:prstGeom>
          <a:noFill/>
          <a:ln/>
        </p:spPr>
        <p:txBody>
          <a:bodyPr wrap="square" lIns="0" tIns="0" rIns="0" bIns="0" rtlCol="0" anchor="ctr"/>
          <a:lstStyle/>
          <a:p>
            <a:pPr indent="0" marL="0">
              <a:buNone/>
            </a:pPr>
            <a:r>
              <a:rPr lang="en-US" sz="1400" dirty="0">
                <a:solidFill>
                  <a:srgbClr val="CADCFC"/>
                </a:solidFill>
              </a:rPr>
              <a:t>BA6003 Database &amp; Programming  |  Final Project</a:t>
            </a:r>
            <a:endParaRPr lang="en-US" sz="1400" dirty="0"/>
          </a:p>
        </p:txBody>
      </p:sp>
      <p:graphicFrame>
        <p:nvGraphicFramePr>
          <p:cNvPr id="5" name="Churn share donut" descr=""/>
          <p:cNvGraphicFramePr/>
          <p:nvPr/>
        </p:nvGraphicFramePr>
        <p:xfrm>
          <a:off x="7406640" y="1280160"/>
          <a:ext cx="4206240" cy="4206240"/>
        </p:xfrm>
        <a:graphic xmlns:a="http://schemas.openxmlformats.org/drawingml/2006/main">
          <a:graphicData uri="http://schemas.openxmlformats.org/drawingml/2006/chart">
            <c:chart xmlns:c="http://schemas.openxmlformats.org/drawingml/2006/chart" r:id="rId1"/>
          </a:graphicData>
        </a:graphic>
      </p:graphicFrame>
      <p:sp>
        <p:nvSpPr>
          <p:cNvPr id="6" name="Donut label"/>
          <p:cNvSpPr txBox="1"/>
          <p:nvPr/>
        </p:nvSpPr>
        <p:spPr>
          <a:xfrm>
            <a:off x="7863840" y="2743200"/>
            <a:ext cx="3291840" cy="1371600"/>
          </a:xfrm>
          <a:prstGeom prst="rect">
            <a:avLst/>
          </a:prstGeom>
          <a:noFill/>
          <a:ln/>
        </p:spPr>
        <p:txBody>
          <a:bodyPr wrap="square" lIns="0" tIns="0" rIns="0" bIns="0" rtlCol="0" anchor="ctr"/>
          <a:lstStyle/>
          <a:p>
            <a:pPr algn="ctr" indent="0" marL="0">
              <a:buNone/>
            </a:pPr>
            <a:r>
              <a:rPr lang="en-US" sz="5400" b="1" dirty="0">
                <a:solidFill>
                  <a:schemeClr val="bg1"/>
                </a:solidFill>
              </a:rPr>
              <a:t>26.5%</a:t>
            </a:r>
            <a:endParaRPr lang="en-US" sz="5400" dirty="0"/>
          </a:p>
          <a:p>
            <a:pPr algn="ctr" indent="0" marL="0">
              <a:buNone/>
            </a:pPr>
            <a:r>
              <a:rPr lang="en-US" sz="1600" dirty="0">
                <a:solidFill>
                  <a:srgbClr val="CADCFC"/>
                </a:solidFill>
              </a:rPr>
              <a:t>of customers churned</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Customers leave before we can react</a:t>
            </a:r>
            <a:endParaRPr lang="en-US" sz="3600" dirty="0"/>
          </a:p>
        </p:txBody>
      </p:sp>
      <p:sp>
        <p:nvSpPr>
          <p:cNvPr id="3" name="Stat card 1"/>
          <p:cNvSpPr/>
          <p:nvPr/>
        </p:nvSpPr>
        <p:spPr>
          <a:xfrm>
            <a:off x="548640" y="1691640"/>
            <a:ext cx="3566160" cy="3017520"/>
          </a:xfrm>
          <a:prstGeom prst="rect">
            <a:avLst/>
          </a:prstGeom>
          <a:solidFill>
            <a:schemeClr val="bg2"/>
          </a:solidFill>
          <a:ln w="12700">
            <a:solidFill>
              <a:schemeClr val="bg2"/>
            </a:solidFill>
            <a:prstDash val="solid"/>
          </a:ln>
        </p:spPr>
      </p:sp>
      <p:sp>
        <p:nvSpPr>
          <p:cNvPr id="4" name="Icon customers analysed circle"/>
          <p:cNvSpPr/>
          <p:nvPr/>
        </p:nvSpPr>
        <p:spPr>
          <a:xfrm>
            <a:off x="868680" y="1965960"/>
            <a:ext cx="731520" cy="731520"/>
          </a:xfrm>
          <a:prstGeom prst="ellipse">
            <a:avLst/>
          </a:prstGeom>
          <a:solidFill>
            <a:srgbClr val="12355B"/>
          </a:solidFill>
          <a:ln w="12700">
            <a:solidFill>
              <a:srgbClr val="12355B"/>
            </a:solidFill>
            <a:prstDash val="solid"/>
          </a:ln>
        </p:spPr>
      </p:sp>
      <p:pic>
        <p:nvPicPr>
          <p:cNvPr id="5" name="Icon customers analysed" descr="Icon customers analysed">    </p:cNvPr>
          <p:cNvPicPr>
            <a:picLocks noChangeAspect="1"/>
          </p:cNvPicPr>
          <p:nvPr/>
        </p:nvPicPr>
        <p:blipFill>
          <a:blip r:embed="rId1"/>
          <a:stretch>
            <a:fillRect/>
          </a:stretch>
        </p:blipFill>
        <p:spPr>
          <a:xfrm>
            <a:off x="1058875" y="2156155"/>
            <a:ext cx="351130" cy="351130"/>
          </a:xfrm>
          <a:prstGeom prst="rect">
            <a:avLst/>
          </a:prstGeom>
        </p:spPr>
      </p:pic>
      <p:sp>
        <p:nvSpPr>
          <p:cNvPr id="6" name="Text 3"/>
          <p:cNvSpPr txBox="1"/>
          <p:nvPr/>
        </p:nvSpPr>
        <p:spPr>
          <a:xfrm>
            <a:off x="868680" y="2926080"/>
            <a:ext cx="3017520" cy="822960"/>
          </a:xfrm>
          <a:prstGeom prst="rect">
            <a:avLst/>
          </a:prstGeom>
          <a:noFill/>
          <a:ln/>
        </p:spPr>
        <p:txBody>
          <a:bodyPr wrap="square" lIns="0" tIns="0" rIns="0" bIns="0" rtlCol="0" anchor="ctr"/>
          <a:lstStyle/>
          <a:p>
            <a:pPr indent="0" marL="0">
              <a:buNone/>
            </a:pPr>
            <a:r>
              <a:rPr lang="en-US" sz="4800" b="1" dirty="0">
                <a:solidFill>
                  <a:schemeClr val="tx2"/>
                </a:solidFill>
              </a:rPr>
              <a:t>7,043</a:t>
            </a:r>
            <a:endParaRPr lang="en-US" sz="4800" dirty="0"/>
          </a:p>
        </p:txBody>
      </p:sp>
      <p:sp>
        <p:nvSpPr>
          <p:cNvPr id="7" name="Text 4"/>
          <p:cNvSpPr txBox="1"/>
          <p:nvPr/>
        </p:nvSpPr>
        <p:spPr>
          <a:xfrm>
            <a:off x="868680" y="3794760"/>
            <a:ext cx="3017520" cy="640080"/>
          </a:xfrm>
          <a:prstGeom prst="rect">
            <a:avLst/>
          </a:prstGeom>
          <a:noFill/>
          <a:ln/>
        </p:spPr>
        <p:txBody>
          <a:bodyPr wrap="square" lIns="0" tIns="0" rIns="0" bIns="0" rtlCol="0" anchor="t"/>
          <a:lstStyle/>
          <a:p>
            <a:pPr indent="0" marL="0">
              <a:buNone/>
            </a:pPr>
            <a:r>
              <a:rPr lang="en-US" sz="1800" dirty="0">
                <a:solidFill>
                  <a:srgbClr val="5B6575"/>
                </a:solidFill>
              </a:rPr>
              <a:t>customers analysed</a:t>
            </a:r>
            <a:endParaRPr lang="en-US" sz="1800" dirty="0"/>
          </a:p>
        </p:txBody>
      </p:sp>
      <p:sp>
        <p:nvSpPr>
          <p:cNvPr id="8" name="Stat card 2"/>
          <p:cNvSpPr/>
          <p:nvPr/>
        </p:nvSpPr>
        <p:spPr>
          <a:xfrm>
            <a:off x="4297680" y="1691640"/>
            <a:ext cx="3566160" cy="3017520"/>
          </a:xfrm>
          <a:prstGeom prst="rect">
            <a:avLst/>
          </a:prstGeom>
          <a:solidFill>
            <a:schemeClr val="bg2"/>
          </a:solidFill>
          <a:ln w="12700">
            <a:solidFill>
              <a:schemeClr val="bg2"/>
            </a:solidFill>
            <a:prstDash val="solid"/>
          </a:ln>
        </p:spPr>
      </p:sp>
      <p:sp>
        <p:nvSpPr>
          <p:cNvPr id="9" name="Icon churned (1,869 customers) circle"/>
          <p:cNvSpPr/>
          <p:nvPr/>
        </p:nvSpPr>
        <p:spPr>
          <a:xfrm>
            <a:off x="4617720" y="1965960"/>
            <a:ext cx="731520" cy="731520"/>
          </a:xfrm>
          <a:prstGeom prst="ellipse">
            <a:avLst/>
          </a:prstGeom>
          <a:solidFill>
            <a:srgbClr val="E4572E"/>
          </a:solidFill>
          <a:ln w="12700">
            <a:solidFill>
              <a:srgbClr val="E4572E"/>
            </a:solidFill>
            <a:prstDash val="solid"/>
          </a:ln>
        </p:spPr>
      </p:sp>
      <p:pic>
        <p:nvPicPr>
          <p:cNvPr id="10" name="Icon churned (1,869 customers)" descr="Icon churned (1,869 customers)">    </p:cNvPr>
          <p:cNvPicPr>
            <a:picLocks noChangeAspect="1"/>
          </p:cNvPicPr>
          <p:nvPr/>
        </p:nvPicPr>
        <p:blipFill>
          <a:blip r:embed="rId2"/>
          <a:stretch>
            <a:fillRect/>
          </a:stretch>
        </p:blipFill>
        <p:spPr>
          <a:xfrm>
            <a:off x="4807915" y="2156155"/>
            <a:ext cx="351130" cy="351130"/>
          </a:xfrm>
          <a:prstGeom prst="rect">
            <a:avLst/>
          </a:prstGeom>
        </p:spPr>
      </p:pic>
      <p:sp>
        <p:nvSpPr>
          <p:cNvPr id="11" name="Text 7"/>
          <p:cNvSpPr txBox="1"/>
          <p:nvPr/>
        </p:nvSpPr>
        <p:spPr>
          <a:xfrm>
            <a:off x="4617720" y="2926080"/>
            <a:ext cx="3017520" cy="822960"/>
          </a:xfrm>
          <a:prstGeom prst="rect">
            <a:avLst/>
          </a:prstGeom>
          <a:noFill/>
          <a:ln/>
        </p:spPr>
        <p:txBody>
          <a:bodyPr wrap="square" lIns="0" tIns="0" rIns="0" bIns="0" rtlCol="0" anchor="ctr"/>
          <a:lstStyle/>
          <a:p>
            <a:pPr indent="0" marL="0">
              <a:buNone/>
            </a:pPr>
            <a:r>
              <a:rPr lang="en-US" sz="4800" b="1" dirty="0">
                <a:solidFill>
                  <a:schemeClr val="tx2"/>
                </a:solidFill>
              </a:rPr>
              <a:t>26.5%</a:t>
            </a:r>
            <a:endParaRPr lang="en-US" sz="4800" dirty="0"/>
          </a:p>
        </p:txBody>
      </p:sp>
      <p:sp>
        <p:nvSpPr>
          <p:cNvPr id="12" name="Text 8"/>
          <p:cNvSpPr txBox="1"/>
          <p:nvPr/>
        </p:nvSpPr>
        <p:spPr>
          <a:xfrm>
            <a:off x="4617720" y="3794760"/>
            <a:ext cx="3017520" cy="640080"/>
          </a:xfrm>
          <a:prstGeom prst="rect">
            <a:avLst/>
          </a:prstGeom>
          <a:noFill/>
          <a:ln/>
        </p:spPr>
        <p:txBody>
          <a:bodyPr wrap="square" lIns="0" tIns="0" rIns="0" bIns="0" rtlCol="0" anchor="t"/>
          <a:lstStyle/>
          <a:p>
            <a:pPr indent="0" marL="0">
              <a:buNone/>
            </a:pPr>
            <a:r>
              <a:rPr lang="en-US" sz="1800" dirty="0">
                <a:solidFill>
                  <a:srgbClr val="5B6575"/>
                </a:solidFill>
              </a:rPr>
              <a:t>churned (1,869 customers)</a:t>
            </a:r>
            <a:endParaRPr lang="en-US" sz="1800" dirty="0"/>
          </a:p>
        </p:txBody>
      </p:sp>
      <p:sp>
        <p:nvSpPr>
          <p:cNvPr id="13" name="Stat card 3"/>
          <p:cNvSpPr/>
          <p:nvPr/>
        </p:nvSpPr>
        <p:spPr>
          <a:xfrm>
            <a:off x="8046720" y="1691640"/>
            <a:ext cx="3566160" cy="3017520"/>
          </a:xfrm>
          <a:prstGeom prst="rect">
            <a:avLst/>
          </a:prstGeom>
          <a:solidFill>
            <a:schemeClr val="bg2"/>
          </a:solidFill>
          <a:ln w="12700">
            <a:solidFill>
              <a:schemeClr val="bg2"/>
            </a:solidFill>
            <a:prstDash val="solid"/>
          </a:ln>
        </p:spPr>
      </p:sp>
      <p:sp>
        <p:nvSpPr>
          <p:cNvPr id="14" name="Icon monthly revenue lost to churn circle"/>
          <p:cNvSpPr/>
          <p:nvPr/>
        </p:nvSpPr>
        <p:spPr>
          <a:xfrm>
            <a:off x="8366760" y="1965960"/>
            <a:ext cx="731520" cy="731520"/>
          </a:xfrm>
          <a:prstGeom prst="ellipse">
            <a:avLst/>
          </a:prstGeom>
          <a:solidFill>
            <a:srgbClr val="1B998B"/>
          </a:solidFill>
          <a:ln w="12700">
            <a:solidFill>
              <a:srgbClr val="1B998B"/>
            </a:solidFill>
            <a:prstDash val="solid"/>
          </a:ln>
        </p:spPr>
      </p:sp>
      <p:pic>
        <p:nvPicPr>
          <p:cNvPr id="15" name="Icon monthly revenue lost to churn" descr="Icon monthly revenue lost to churn">    </p:cNvPr>
          <p:cNvPicPr>
            <a:picLocks noChangeAspect="1"/>
          </p:cNvPicPr>
          <p:nvPr/>
        </p:nvPicPr>
        <p:blipFill>
          <a:blip r:embed="rId3"/>
          <a:stretch>
            <a:fillRect/>
          </a:stretch>
        </p:blipFill>
        <p:spPr>
          <a:xfrm>
            <a:off x="8556955" y="2156155"/>
            <a:ext cx="351130" cy="351130"/>
          </a:xfrm>
          <a:prstGeom prst="rect">
            <a:avLst/>
          </a:prstGeom>
        </p:spPr>
      </p:pic>
      <p:sp>
        <p:nvSpPr>
          <p:cNvPr id="16" name="Text 11"/>
          <p:cNvSpPr txBox="1"/>
          <p:nvPr/>
        </p:nvSpPr>
        <p:spPr>
          <a:xfrm>
            <a:off x="8366760" y="2926080"/>
            <a:ext cx="3017520" cy="822960"/>
          </a:xfrm>
          <a:prstGeom prst="rect">
            <a:avLst/>
          </a:prstGeom>
          <a:noFill/>
          <a:ln/>
        </p:spPr>
        <p:txBody>
          <a:bodyPr wrap="square" lIns="0" tIns="0" rIns="0" bIns="0" rtlCol="0" anchor="ctr"/>
          <a:lstStyle/>
          <a:p>
            <a:pPr indent="0" marL="0">
              <a:buNone/>
            </a:pPr>
            <a:r>
              <a:rPr lang="en-US" sz="4800" b="1" dirty="0">
                <a:solidFill>
                  <a:schemeClr val="tx2"/>
                </a:solidFill>
              </a:rPr>
              <a:t>USD 139k</a:t>
            </a:r>
            <a:endParaRPr lang="en-US" sz="4800" dirty="0"/>
          </a:p>
        </p:txBody>
      </p:sp>
      <p:sp>
        <p:nvSpPr>
          <p:cNvPr id="17" name="Text 12"/>
          <p:cNvSpPr txBox="1"/>
          <p:nvPr/>
        </p:nvSpPr>
        <p:spPr>
          <a:xfrm>
            <a:off x="8366760" y="3794760"/>
            <a:ext cx="3017520" cy="640080"/>
          </a:xfrm>
          <a:prstGeom prst="rect">
            <a:avLst/>
          </a:prstGeom>
          <a:noFill/>
          <a:ln/>
        </p:spPr>
        <p:txBody>
          <a:bodyPr wrap="square" lIns="0" tIns="0" rIns="0" bIns="0" rtlCol="0" anchor="t"/>
          <a:lstStyle/>
          <a:p>
            <a:pPr indent="0" marL="0">
              <a:buNone/>
            </a:pPr>
            <a:r>
              <a:rPr lang="en-US" sz="1800" dirty="0">
                <a:solidFill>
                  <a:srgbClr val="5B6575"/>
                </a:solidFill>
              </a:rPr>
              <a:t>monthly revenue lost to churn</a:t>
            </a:r>
            <a:endParaRPr lang="en-US" sz="1800" dirty="0"/>
          </a:p>
        </p:txBody>
      </p:sp>
      <p:sp>
        <p:nvSpPr>
          <p:cNvPr id="18" name="Problem statement"/>
          <p:cNvSpPr txBox="1"/>
          <p:nvPr/>
        </p:nvSpPr>
        <p:spPr>
          <a:xfrm>
            <a:off x="548640" y="5120640"/>
            <a:ext cx="11064240" cy="1005840"/>
          </a:xfrm>
          <a:prstGeom prst="rect">
            <a:avLst/>
          </a:prstGeom>
          <a:noFill/>
          <a:ln/>
        </p:spPr>
        <p:txBody>
          <a:bodyPr wrap="square" lIns="0" tIns="0" rIns="0" bIns="0" rtlCol="0" anchor="t"/>
          <a:lstStyle/>
          <a:p>
            <a:pPr indent="0" marL="0">
              <a:buNone/>
            </a:pPr>
            <a:r>
              <a:rPr lang="en-US" sz="2200" b="1" dirty="0">
                <a:solidFill>
                  <a:schemeClr val="tx2"/>
                </a:solidFill>
              </a:rPr>
              <a:t>Today the team reacts after the cancellation. </a:t>
            </a:r>
            <a:pPr indent="0" marL="0">
              <a:buNone/>
            </a:pPr>
            <a:r>
              <a:rPr lang="en-US" sz="2200" dirty="0">
                <a:solidFill>
                  <a:schemeClr val="tx1"/>
                </a:solidFill>
              </a:rPr>
              <a:t>Replacing a lost customer costs more than keeping one, so the value lies in warning early and knowing what to say.</a:t>
            </a:r>
            <a:endParaRPr lang="en-US" sz="2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Built for the retention team</a:t>
            </a:r>
            <a:endParaRPr lang="en-US" sz="3600" dirty="0"/>
          </a:p>
        </p:txBody>
      </p:sp>
      <p:sp>
        <p:nvSpPr>
          <p:cNvPr id="3" name="Card Who uses it"/>
          <p:cNvSpPr/>
          <p:nvPr/>
        </p:nvSpPr>
        <p:spPr>
          <a:xfrm>
            <a:off x="548640" y="1691640"/>
            <a:ext cx="3566160" cy="3383280"/>
          </a:xfrm>
          <a:prstGeom prst="rect">
            <a:avLst/>
          </a:prstGeom>
          <a:solidFill>
            <a:schemeClr val="bg2"/>
          </a:solidFill>
          <a:ln w="12700">
            <a:solidFill>
              <a:schemeClr val="bg2"/>
            </a:solidFill>
            <a:prstDash val="solid"/>
          </a:ln>
        </p:spPr>
      </p:sp>
      <p:sp>
        <p:nvSpPr>
          <p:cNvPr id="4" name="Icon Who uses it circle"/>
          <p:cNvSpPr/>
          <p:nvPr/>
        </p:nvSpPr>
        <p:spPr>
          <a:xfrm>
            <a:off x="868680" y="1965960"/>
            <a:ext cx="731520" cy="731520"/>
          </a:xfrm>
          <a:prstGeom prst="ellipse">
            <a:avLst/>
          </a:prstGeom>
          <a:solidFill>
            <a:srgbClr val="12355B"/>
          </a:solidFill>
          <a:ln w="12700">
            <a:solidFill>
              <a:srgbClr val="12355B"/>
            </a:solidFill>
            <a:prstDash val="solid"/>
          </a:ln>
        </p:spPr>
      </p:sp>
      <p:pic>
        <p:nvPicPr>
          <p:cNvPr id="5" name="Icon Who uses it" descr="Icon Who uses it">    </p:cNvPr>
          <p:cNvPicPr>
            <a:picLocks noChangeAspect="1"/>
          </p:cNvPicPr>
          <p:nvPr/>
        </p:nvPicPr>
        <p:blipFill>
          <a:blip r:embed="rId1"/>
          <a:stretch>
            <a:fillRect/>
          </a:stretch>
        </p:blipFill>
        <p:spPr>
          <a:xfrm>
            <a:off x="1058875" y="2156155"/>
            <a:ext cx="351130" cy="351130"/>
          </a:xfrm>
          <a:prstGeom prst="rect">
            <a:avLst/>
          </a:prstGeom>
        </p:spPr>
      </p:pic>
      <p:sp>
        <p:nvSpPr>
          <p:cNvPr id="6" name="Text 3"/>
          <p:cNvSpPr txBox="1"/>
          <p:nvPr/>
        </p:nvSpPr>
        <p:spPr>
          <a:xfrm>
            <a:off x="868680" y="2834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Who uses it</a:t>
            </a:r>
            <a:endParaRPr lang="en-US" sz="2200" dirty="0"/>
          </a:p>
        </p:txBody>
      </p:sp>
      <p:sp>
        <p:nvSpPr>
          <p:cNvPr id="7" name="Text 4"/>
          <p:cNvSpPr txBox="1"/>
          <p:nvPr/>
        </p:nvSpPr>
        <p:spPr>
          <a:xfrm>
            <a:off x="868680" y="34290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Customer-success teams</a:t>
            </a:r>
            <a:endParaRPr lang="en-US" sz="1800" dirty="0"/>
          </a:p>
          <a:p>
            <a:pPr marL="342900" indent="-342900">
              <a:spcAft>
                <a:spcPts val="600"/>
              </a:spcAft>
              <a:buSzPct val="100000"/>
              <a:buChar char="•"/>
            </a:pPr>
            <a:r>
              <a:rPr lang="en-US" sz="1800" dirty="0">
                <a:solidFill>
                  <a:schemeClr val="tx1"/>
                </a:solidFill>
              </a:rPr>
              <a:t>Call-centre agents</a:t>
            </a:r>
            <a:endParaRPr lang="en-US" sz="1800" dirty="0"/>
          </a:p>
          <a:p>
            <a:pPr marL="342900" indent="-342900">
              <a:spcAft>
                <a:spcPts val="600"/>
              </a:spcAft>
              <a:buSzPct val="100000"/>
              <a:buChar char="•"/>
            </a:pPr>
            <a:r>
              <a:rPr lang="en-US" sz="1800" dirty="0">
                <a:solidFill>
                  <a:schemeClr val="tx1"/>
                </a:solidFill>
              </a:rPr>
              <a:t>Marketing staff</a:t>
            </a:r>
            <a:endParaRPr lang="en-US" sz="1800" dirty="0"/>
          </a:p>
        </p:txBody>
      </p:sp>
      <p:sp>
        <p:nvSpPr>
          <p:cNvPr id="8" name="Card Decision it supports"/>
          <p:cNvSpPr/>
          <p:nvPr/>
        </p:nvSpPr>
        <p:spPr>
          <a:xfrm>
            <a:off x="4297680" y="1691640"/>
            <a:ext cx="3566160" cy="3383280"/>
          </a:xfrm>
          <a:prstGeom prst="rect">
            <a:avLst/>
          </a:prstGeom>
          <a:solidFill>
            <a:schemeClr val="bg2"/>
          </a:solidFill>
          <a:ln w="12700">
            <a:solidFill>
              <a:schemeClr val="bg2"/>
            </a:solidFill>
            <a:prstDash val="solid"/>
          </a:ln>
        </p:spPr>
      </p:sp>
      <p:sp>
        <p:nvSpPr>
          <p:cNvPr id="9" name="Icon Decision it supports circle"/>
          <p:cNvSpPr/>
          <p:nvPr/>
        </p:nvSpPr>
        <p:spPr>
          <a:xfrm>
            <a:off x="4617720" y="1965960"/>
            <a:ext cx="731520" cy="731520"/>
          </a:xfrm>
          <a:prstGeom prst="ellipse">
            <a:avLst/>
          </a:prstGeom>
          <a:solidFill>
            <a:srgbClr val="E4572E"/>
          </a:solidFill>
          <a:ln w="12700">
            <a:solidFill>
              <a:srgbClr val="E4572E"/>
            </a:solidFill>
            <a:prstDash val="solid"/>
          </a:ln>
        </p:spPr>
      </p:sp>
      <p:pic>
        <p:nvPicPr>
          <p:cNvPr id="10" name="Icon Decision it supports" descr="Icon Decision it supports">    </p:cNvPr>
          <p:cNvPicPr>
            <a:picLocks noChangeAspect="1"/>
          </p:cNvPicPr>
          <p:nvPr/>
        </p:nvPicPr>
        <p:blipFill>
          <a:blip r:embed="rId2"/>
          <a:stretch>
            <a:fillRect/>
          </a:stretch>
        </p:blipFill>
        <p:spPr>
          <a:xfrm>
            <a:off x="4807915" y="2156155"/>
            <a:ext cx="351130" cy="351130"/>
          </a:xfrm>
          <a:prstGeom prst="rect">
            <a:avLst/>
          </a:prstGeom>
        </p:spPr>
      </p:pic>
      <p:sp>
        <p:nvSpPr>
          <p:cNvPr id="11" name="Text 7"/>
          <p:cNvSpPr txBox="1"/>
          <p:nvPr/>
        </p:nvSpPr>
        <p:spPr>
          <a:xfrm>
            <a:off x="4617720" y="2834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Decision it supports</a:t>
            </a:r>
            <a:endParaRPr lang="en-US" sz="2200" dirty="0"/>
          </a:p>
        </p:txBody>
      </p:sp>
      <p:sp>
        <p:nvSpPr>
          <p:cNvPr id="12" name="Text 8"/>
          <p:cNvSpPr txBox="1"/>
          <p:nvPr/>
        </p:nvSpPr>
        <p:spPr>
          <a:xfrm>
            <a:off x="4617720" y="34290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Who to contact this week</a:t>
            </a:r>
            <a:endParaRPr lang="en-US" sz="1800" dirty="0"/>
          </a:p>
          <a:p>
            <a:pPr marL="342900" indent="-342900">
              <a:spcAft>
                <a:spcPts val="600"/>
              </a:spcAft>
              <a:buSzPct val="100000"/>
              <a:buChar char="•"/>
            </a:pPr>
            <a:r>
              <a:rPr lang="en-US" sz="1800" dirty="0">
                <a:solidFill>
                  <a:schemeClr val="tx1"/>
                </a:solidFill>
              </a:rPr>
              <a:t>With which approved offer</a:t>
            </a:r>
            <a:endParaRPr lang="en-US" sz="1800" dirty="0"/>
          </a:p>
          <a:p>
            <a:pPr marL="342900" indent="-342900">
              <a:spcAft>
                <a:spcPts val="600"/>
              </a:spcAft>
              <a:buSzPct val="100000"/>
              <a:buChar char="•"/>
            </a:pPr>
            <a:r>
              <a:rPr lang="en-US" sz="1800" dirty="0">
                <a:solidFill>
                  <a:schemeClr val="tx1"/>
                </a:solidFill>
              </a:rPr>
              <a:t>Whether the campaign pays back</a:t>
            </a:r>
            <a:endParaRPr lang="en-US" sz="1800" dirty="0"/>
          </a:p>
        </p:txBody>
      </p:sp>
      <p:sp>
        <p:nvSpPr>
          <p:cNvPr id="13" name="Card What they get"/>
          <p:cNvSpPr/>
          <p:nvPr/>
        </p:nvSpPr>
        <p:spPr>
          <a:xfrm>
            <a:off x="8046720" y="1691640"/>
            <a:ext cx="3566160" cy="3383280"/>
          </a:xfrm>
          <a:prstGeom prst="rect">
            <a:avLst/>
          </a:prstGeom>
          <a:solidFill>
            <a:schemeClr val="bg2"/>
          </a:solidFill>
          <a:ln w="12700">
            <a:solidFill>
              <a:schemeClr val="bg2"/>
            </a:solidFill>
            <a:prstDash val="solid"/>
          </a:ln>
        </p:spPr>
      </p:sp>
      <p:sp>
        <p:nvSpPr>
          <p:cNvPr id="14" name="Icon What they get circle"/>
          <p:cNvSpPr/>
          <p:nvPr/>
        </p:nvSpPr>
        <p:spPr>
          <a:xfrm>
            <a:off x="8366760" y="1965960"/>
            <a:ext cx="731520" cy="731520"/>
          </a:xfrm>
          <a:prstGeom prst="ellipse">
            <a:avLst/>
          </a:prstGeom>
          <a:solidFill>
            <a:srgbClr val="1B998B"/>
          </a:solidFill>
          <a:ln w="12700">
            <a:solidFill>
              <a:srgbClr val="1B998B"/>
            </a:solidFill>
            <a:prstDash val="solid"/>
          </a:ln>
        </p:spPr>
      </p:sp>
      <p:pic>
        <p:nvPicPr>
          <p:cNvPr id="15" name="Icon What they get" descr="Icon What they get">    </p:cNvPr>
          <p:cNvPicPr>
            <a:picLocks noChangeAspect="1"/>
          </p:cNvPicPr>
          <p:nvPr/>
        </p:nvPicPr>
        <p:blipFill>
          <a:blip r:embed="rId3"/>
          <a:stretch>
            <a:fillRect/>
          </a:stretch>
        </p:blipFill>
        <p:spPr>
          <a:xfrm>
            <a:off x="8556955" y="2156155"/>
            <a:ext cx="351130" cy="351130"/>
          </a:xfrm>
          <a:prstGeom prst="rect">
            <a:avLst/>
          </a:prstGeom>
        </p:spPr>
      </p:pic>
      <p:sp>
        <p:nvSpPr>
          <p:cNvPr id="16" name="Text 11"/>
          <p:cNvSpPr txBox="1"/>
          <p:nvPr/>
        </p:nvSpPr>
        <p:spPr>
          <a:xfrm>
            <a:off x="8366760" y="2834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What they get</a:t>
            </a:r>
            <a:endParaRPr lang="en-US" sz="2200" dirty="0"/>
          </a:p>
        </p:txBody>
      </p:sp>
      <p:sp>
        <p:nvSpPr>
          <p:cNvPr id="17" name="Text 12"/>
          <p:cNvSpPr txBox="1"/>
          <p:nvPr/>
        </p:nvSpPr>
        <p:spPr>
          <a:xfrm>
            <a:off x="8366760" y="34290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Ranked call list with reasons</a:t>
            </a:r>
            <a:endParaRPr lang="en-US" sz="1800" dirty="0"/>
          </a:p>
          <a:p>
            <a:pPr marL="342900" indent="-342900">
              <a:spcAft>
                <a:spcPts val="600"/>
              </a:spcAft>
              <a:buSzPct val="100000"/>
              <a:buChar char="•"/>
            </a:pPr>
            <a:r>
              <a:rPr lang="en-US" sz="1800" dirty="0">
                <a:solidFill>
                  <a:schemeClr val="tx1"/>
                </a:solidFill>
              </a:rPr>
              <a:t>A verified, editable call script</a:t>
            </a:r>
            <a:endParaRPr lang="en-US" sz="1800" dirty="0"/>
          </a:p>
          <a:p>
            <a:pPr marL="342900" indent="-342900">
              <a:spcAft>
                <a:spcPts val="600"/>
              </a:spcAft>
              <a:buSzPct val="100000"/>
              <a:buChar char="•"/>
            </a:pPr>
            <a:r>
              <a:rPr lang="en-US" sz="1800" dirty="0">
                <a:solidFill>
                  <a:schemeClr val="tx1"/>
                </a:solidFill>
              </a:rPr>
              <a:t>An ROI simulator</a:t>
            </a:r>
            <a:endParaRPr lang="en-US" sz="1800" dirty="0"/>
          </a:p>
        </p:txBody>
      </p:sp>
      <p:sp>
        <p:nvSpPr>
          <p:cNvPr id="18" name="Text 13"/>
          <p:cNvSpPr txBox="1"/>
          <p:nvPr/>
        </p:nvSpPr>
        <p:spPr>
          <a:xfrm>
            <a:off x="548640" y="5440680"/>
            <a:ext cx="11064240" cy="457200"/>
          </a:xfrm>
          <a:prstGeom prst="rect">
            <a:avLst/>
          </a:prstGeom>
          <a:noFill/>
          <a:ln/>
        </p:spPr>
        <p:txBody>
          <a:bodyPr wrap="square" lIns="0" tIns="0" rIns="0" bIns="0" rtlCol="0" anchor="t"/>
          <a:lstStyle/>
          <a:p>
            <a:pPr indent="0" marL="0">
              <a:buNone/>
            </a:pPr>
            <a:r>
              <a:rPr lang="en-US" sz="1800" i="1" dirty="0">
                <a:solidFill>
                  <a:srgbClr val="5B6575"/>
                </a:solidFill>
              </a:rPr>
              <a:t>Use case from the brief: Churn Risk - which groups have higher cancellation risk?</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From data to retention action in five steps</a:t>
            </a:r>
            <a:endParaRPr lang="en-US" sz="3600" dirty="0"/>
          </a:p>
        </p:txBody>
      </p:sp>
      <p:sp>
        <p:nvSpPr>
          <p:cNvPr id="3" name="Step Data"/>
          <p:cNvSpPr/>
          <p:nvPr/>
        </p:nvSpPr>
        <p:spPr>
          <a:xfrm>
            <a:off x="548640" y="1691640"/>
            <a:ext cx="2057400" cy="3383280"/>
          </a:xfrm>
          <a:prstGeom prst="rect">
            <a:avLst/>
          </a:prstGeom>
          <a:solidFill>
            <a:schemeClr val="bg2"/>
          </a:solidFill>
          <a:ln w="12700">
            <a:solidFill>
              <a:schemeClr val="bg2"/>
            </a:solidFill>
            <a:prstDash val="solid"/>
          </a:ln>
        </p:spPr>
      </p:sp>
      <p:sp>
        <p:nvSpPr>
          <p:cNvPr id="4" name="Icon Data circle"/>
          <p:cNvSpPr/>
          <p:nvPr/>
        </p:nvSpPr>
        <p:spPr>
          <a:xfrm>
            <a:off x="822960" y="1965960"/>
            <a:ext cx="731520" cy="731520"/>
          </a:xfrm>
          <a:prstGeom prst="ellipse">
            <a:avLst/>
          </a:prstGeom>
          <a:solidFill>
            <a:srgbClr val="12355B"/>
          </a:solidFill>
          <a:ln w="12700">
            <a:solidFill>
              <a:srgbClr val="12355B"/>
            </a:solidFill>
            <a:prstDash val="solid"/>
          </a:ln>
        </p:spPr>
      </p:sp>
      <p:pic>
        <p:nvPicPr>
          <p:cNvPr id="5" name="Icon Data" descr="Icon Data">    </p:cNvPr>
          <p:cNvPicPr>
            <a:picLocks noChangeAspect="1"/>
          </p:cNvPicPr>
          <p:nvPr/>
        </p:nvPicPr>
        <p:blipFill>
          <a:blip r:embed="rId1"/>
          <a:stretch>
            <a:fillRect/>
          </a:stretch>
        </p:blipFill>
        <p:spPr>
          <a:xfrm>
            <a:off x="1013155" y="2156155"/>
            <a:ext cx="351130" cy="351130"/>
          </a:xfrm>
          <a:prstGeom prst="rect">
            <a:avLst/>
          </a:prstGeom>
        </p:spPr>
      </p:pic>
      <p:sp>
        <p:nvSpPr>
          <p:cNvPr id="6" name="Text 3"/>
          <p:cNvSpPr txBox="1"/>
          <p:nvPr/>
        </p:nvSpPr>
        <p:spPr>
          <a:xfrm>
            <a:off x="822960" y="2926080"/>
            <a:ext cx="1508760" cy="274320"/>
          </a:xfrm>
          <a:prstGeom prst="rect">
            <a:avLst/>
          </a:prstGeom>
          <a:noFill/>
          <a:ln/>
        </p:spPr>
        <p:txBody>
          <a:bodyPr wrap="square" lIns="0" tIns="0" rIns="0" bIns="0" rtlCol="0" anchor="t"/>
          <a:lstStyle/>
          <a:p>
            <a:pPr indent="0" marL="0">
              <a:buNone/>
            </a:pPr>
            <a:r>
              <a:rPr lang="en-US" sz="1400" dirty="0">
                <a:solidFill>
                  <a:srgbClr val="5B6575"/>
                </a:solidFill>
              </a:rPr>
              <a:t>Step 1</a:t>
            </a:r>
            <a:endParaRPr lang="en-US" sz="1400" dirty="0"/>
          </a:p>
        </p:txBody>
      </p:sp>
      <p:sp>
        <p:nvSpPr>
          <p:cNvPr id="7" name="Text 4"/>
          <p:cNvSpPr txBox="1"/>
          <p:nvPr/>
        </p:nvSpPr>
        <p:spPr>
          <a:xfrm>
            <a:off x="822960" y="3200400"/>
            <a:ext cx="1508760" cy="457200"/>
          </a:xfrm>
          <a:prstGeom prst="rect">
            <a:avLst/>
          </a:prstGeom>
          <a:noFill/>
          <a:ln/>
        </p:spPr>
        <p:txBody>
          <a:bodyPr wrap="square" lIns="0" tIns="0" rIns="0" bIns="0" rtlCol="0" anchor="t"/>
          <a:lstStyle/>
          <a:p>
            <a:pPr indent="0" marL="0">
              <a:buNone/>
            </a:pPr>
            <a:r>
              <a:rPr lang="en-US" sz="2400" b="1" dirty="0">
                <a:solidFill>
                  <a:schemeClr val="tx2"/>
                </a:solidFill>
              </a:rPr>
              <a:t>Data</a:t>
            </a:r>
            <a:endParaRPr lang="en-US" sz="2400" dirty="0"/>
          </a:p>
        </p:txBody>
      </p:sp>
      <p:sp>
        <p:nvSpPr>
          <p:cNvPr id="8" name="Text 5"/>
          <p:cNvSpPr txBox="1"/>
          <p:nvPr/>
        </p:nvSpPr>
        <p:spPr>
          <a:xfrm>
            <a:off x="822960" y="3749040"/>
            <a:ext cx="1508760" cy="1188720"/>
          </a:xfrm>
          <a:prstGeom prst="rect">
            <a:avLst/>
          </a:prstGeom>
          <a:noFill/>
          <a:ln/>
        </p:spPr>
        <p:txBody>
          <a:bodyPr wrap="square" lIns="0" tIns="0" rIns="0" bIns="0" rtlCol="0" anchor="t"/>
          <a:lstStyle/>
          <a:p>
            <a:pPr indent="0" marL="0">
              <a:buNone/>
            </a:pPr>
            <a:r>
              <a:rPr lang="en-US" sz="1600" dirty="0">
                <a:solidFill>
                  <a:schemeClr val="tx1"/>
                </a:solidFill>
              </a:rPr>
              <a:t>Telco CSV: 7,043 customers, 21 fields</a:t>
            </a:r>
            <a:endParaRPr lang="en-US" sz="1600" dirty="0"/>
          </a:p>
        </p:txBody>
      </p:sp>
      <p:sp>
        <p:nvSpPr>
          <p:cNvPr id="9" name="Step SQL"/>
          <p:cNvSpPr/>
          <p:nvPr/>
        </p:nvSpPr>
        <p:spPr>
          <a:xfrm>
            <a:off x="2788920" y="1691640"/>
            <a:ext cx="2057400" cy="3383280"/>
          </a:xfrm>
          <a:prstGeom prst="rect">
            <a:avLst/>
          </a:prstGeom>
          <a:solidFill>
            <a:schemeClr val="bg2"/>
          </a:solidFill>
          <a:ln w="12700">
            <a:solidFill>
              <a:schemeClr val="bg2"/>
            </a:solidFill>
            <a:prstDash val="solid"/>
          </a:ln>
        </p:spPr>
      </p:sp>
      <p:sp>
        <p:nvSpPr>
          <p:cNvPr id="10" name="Icon SQL circle"/>
          <p:cNvSpPr/>
          <p:nvPr/>
        </p:nvSpPr>
        <p:spPr>
          <a:xfrm>
            <a:off x="3063240" y="1965960"/>
            <a:ext cx="731520" cy="731520"/>
          </a:xfrm>
          <a:prstGeom prst="ellipse">
            <a:avLst/>
          </a:prstGeom>
          <a:solidFill>
            <a:srgbClr val="12355B"/>
          </a:solidFill>
          <a:ln w="12700">
            <a:solidFill>
              <a:srgbClr val="12355B"/>
            </a:solidFill>
            <a:prstDash val="solid"/>
          </a:ln>
        </p:spPr>
      </p:sp>
      <p:pic>
        <p:nvPicPr>
          <p:cNvPr id="11" name="Icon SQL" descr="Icon SQL">    </p:cNvPr>
          <p:cNvPicPr>
            <a:picLocks noChangeAspect="1"/>
          </p:cNvPicPr>
          <p:nvPr/>
        </p:nvPicPr>
        <p:blipFill>
          <a:blip r:embed="rId2"/>
          <a:stretch>
            <a:fillRect/>
          </a:stretch>
        </p:blipFill>
        <p:spPr>
          <a:xfrm>
            <a:off x="3253435" y="2156155"/>
            <a:ext cx="351130" cy="351130"/>
          </a:xfrm>
          <a:prstGeom prst="rect">
            <a:avLst/>
          </a:prstGeom>
        </p:spPr>
      </p:pic>
      <p:sp>
        <p:nvSpPr>
          <p:cNvPr id="12" name="Text 8"/>
          <p:cNvSpPr txBox="1"/>
          <p:nvPr/>
        </p:nvSpPr>
        <p:spPr>
          <a:xfrm>
            <a:off x="3063240" y="2926080"/>
            <a:ext cx="1508760" cy="274320"/>
          </a:xfrm>
          <a:prstGeom prst="rect">
            <a:avLst/>
          </a:prstGeom>
          <a:noFill/>
          <a:ln/>
        </p:spPr>
        <p:txBody>
          <a:bodyPr wrap="square" lIns="0" tIns="0" rIns="0" bIns="0" rtlCol="0" anchor="t"/>
          <a:lstStyle/>
          <a:p>
            <a:pPr indent="0" marL="0">
              <a:buNone/>
            </a:pPr>
            <a:r>
              <a:rPr lang="en-US" sz="1400" dirty="0">
                <a:solidFill>
                  <a:srgbClr val="5B6575"/>
                </a:solidFill>
              </a:rPr>
              <a:t>Step 2</a:t>
            </a:r>
            <a:endParaRPr lang="en-US" sz="1400" dirty="0"/>
          </a:p>
        </p:txBody>
      </p:sp>
      <p:sp>
        <p:nvSpPr>
          <p:cNvPr id="13" name="Text 9"/>
          <p:cNvSpPr txBox="1"/>
          <p:nvPr/>
        </p:nvSpPr>
        <p:spPr>
          <a:xfrm>
            <a:off x="3063240" y="3200400"/>
            <a:ext cx="1508760" cy="457200"/>
          </a:xfrm>
          <a:prstGeom prst="rect">
            <a:avLst/>
          </a:prstGeom>
          <a:noFill/>
          <a:ln/>
        </p:spPr>
        <p:txBody>
          <a:bodyPr wrap="square" lIns="0" tIns="0" rIns="0" bIns="0" rtlCol="0" anchor="t"/>
          <a:lstStyle/>
          <a:p>
            <a:pPr indent="0" marL="0">
              <a:buNone/>
            </a:pPr>
            <a:r>
              <a:rPr lang="en-US" sz="2400" b="1" dirty="0">
                <a:solidFill>
                  <a:schemeClr val="tx2"/>
                </a:solidFill>
              </a:rPr>
              <a:t>SQL</a:t>
            </a:r>
            <a:endParaRPr lang="en-US" sz="2400" dirty="0"/>
          </a:p>
        </p:txBody>
      </p:sp>
      <p:sp>
        <p:nvSpPr>
          <p:cNvPr id="14" name="Text 10"/>
          <p:cNvSpPr txBox="1"/>
          <p:nvPr/>
        </p:nvSpPr>
        <p:spPr>
          <a:xfrm>
            <a:off x="3063240" y="3749040"/>
            <a:ext cx="1508760" cy="1188720"/>
          </a:xfrm>
          <a:prstGeom prst="rect">
            <a:avLst/>
          </a:prstGeom>
          <a:noFill/>
          <a:ln/>
        </p:spPr>
        <p:txBody>
          <a:bodyPr wrap="square" lIns="0" tIns="0" rIns="0" bIns="0" rtlCol="0" anchor="t"/>
          <a:lstStyle/>
          <a:p>
            <a:pPr indent="0" marL="0">
              <a:buNone/>
            </a:pPr>
            <a:r>
              <a:rPr lang="en-US" sz="1600" dirty="0">
                <a:solidFill>
                  <a:schemeClr val="tx1"/>
                </a:solidFill>
              </a:rPr>
              <a:t>4 tables + 1 view, 11 queries, constraints</a:t>
            </a:r>
            <a:endParaRPr lang="en-US" sz="1600" dirty="0"/>
          </a:p>
        </p:txBody>
      </p:sp>
      <p:sp>
        <p:nvSpPr>
          <p:cNvPr id="15" name="Step Python"/>
          <p:cNvSpPr/>
          <p:nvPr/>
        </p:nvSpPr>
        <p:spPr>
          <a:xfrm>
            <a:off x="5029200" y="1691640"/>
            <a:ext cx="2057400" cy="3383280"/>
          </a:xfrm>
          <a:prstGeom prst="rect">
            <a:avLst/>
          </a:prstGeom>
          <a:solidFill>
            <a:schemeClr val="bg2"/>
          </a:solidFill>
          <a:ln w="12700">
            <a:solidFill>
              <a:schemeClr val="bg2"/>
            </a:solidFill>
            <a:prstDash val="solid"/>
          </a:ln>
        </p:spPr>
      </p:sp>
      <p:sp>
        <p:nvSpPr>
          <p:cNvPr id="16" name="Icon Python circle"/>
          <p:cNvSpPr/>
          <p:nvPr/>
        </p:nvSpPr>
        <p:spPr>
          <a:xfrm>
            <a:off x="5303520" y="1965960"/>
            <a:ext cx="731520" cy="731520"/>
          </a:xfrm>
          <a:prstGeom prst="ellipse">
            <a:avLst/>
          </a:prstGeom>
          <a:solidFill>
            <a:srgbClr val="12355B"/>
          </a:solidFill>
          <a:ln w="12700">
            <a:solidFill>
              <a:srgbClr val="12355B"/>
            </a:solidFill>
            <a:prstDash val="solid"/>
          </a:ln>
        </p:spPr>
      </p:sp>
      <p:pic>
        <p:nvPicPr>
          <p:cNvPr id="17" name="Icon Python" descr="Icon Python">    </p:cNvPr>
          <p:cNvPicPr>
            <a:picLocks noChangeAspect="1"/>
          </p:cNvPicPr>
          <p:nvPr/>
        </p:nvPicPr>
        <p:blipFill>
          <a:blip r:embed="rId3"/>
          <a:stretch>
            <a:fillRect/>
          </a:stretch>
        </p:blipFill>
        <p:spPr>
          <a:xfrm>
            <a:off x="5493715" y="2156155"/>
            <a:ext cx="351130" cy="351130"/>
          </a:xfrm>
          <a:prstGeom prst="rect">
            <a:avLst/>
          </a:prstGeom>
        </p:spPr>
      </p:pic>
      <p:sp>
        <p:nvSpPr>
          <p:cNvPr id="18" name="Text 13"/>
          <p:cNvSpPr txBox="1"/>
          <p:nvPr/>
        </p:nvSpPr>
        <p:spPr>
          <a:xfrm>
            <a:off x="5303520" y="2926080"/>
            <a:ext cx="1508760" cy="274320"/>
          </a:xfrm>
          <a:prstGeom prst="rect">
            <a:avLst/>
          </a:prstGeom>
          <a:noFill/>
          <a:ln/>
        </p:spPr>
        <p:txBody>
          <a:bodyPr wrap="square" lIns="0" tIns="0" rIns="0" bIns="0" rtlCol="0" anchor="t"/>
          <a:lstStyle/>
          <a:p>
            <a:pPr indent="0" marL="0">
              <a:buNone/>
            </a:pPr>
            <a:r>
              <a:rPr lang="en-US" sz="1400" dirty="0">
                <a:solidFill>
                  <a:srgbClr val="5B6575"/>
                </a:solidFill>
              </a:rPr>
              <a:t>Step 3</a:t>
            </a:r>
            <a:endParaRPr lang="en-US" sz="1400" dirty="0"/>
          </a:p>
        </p:txBody>
      </p:sp>
      <p:sp>
        <p:nvSpPr>
          <p:cNvPr id="19" name="Text 14"/>
          <p:cNvSpPr txBox="1"/>
          <p:nvPr/>
        </p:nvSpPr>
        <p:spPr>
          <a:xfrm>
            <a:off x="5303520" y="3200400"/>
            <a:ext cx="1508760" cy="457200"/>
          </a:xfrm>
          <a:prstGeom prst="rect">
            <a:avLst/>
          </a:prstGeom>
          <a:noFill/>
          <a:ln/>
        </p:spPr>
        <p:txBody>
          <a:bodyPr wrap="square" lIns="0" tIns="0" rIns="0" bIns="0" rtlCol="0" anchor="t"/>
          <a:lstStyle/>
          <a:p>
            <a:pPr indent="0" marL="0">
              <a:buNone/>
            </a:pPr>
            <a:r>
              <a:rPr lang="en-US" sz="2400" b="1" dirty="0">
                <a:solidFill>
                  <a:schemeClr val="tx2"/>
                </a:solidFill>
              </a:rPr>
              <a:t>Python</a:t>
            </a:r>
            <a:endParaRPr lang="en-US" sz="2400" dirty="0"/>
          </a:p>
        </p:txBody>
      </p:sp>
      <p:sp>
        <p:nvSpPr>
          <p:cNvPr id="20" name="Text 15"/>
          <p:cNvSpPr txBox="1"/>
          <p:nvPr/>
        </p:nvSpPr>
        <p:spPr>
          <a:xfrm>
            <a:off x="5303520" y="3749040"/>
            <a:ext cx="1508760" cy="1188720"/>
          </a:xfrm>
          <a:prstGeom prst="rect">
            <a:avLst/>
          </a:prstGeom>
          <a:noFill/>
          <a:ln/>
        </p:spPr>
        <p:txBody>
          <a:bodyPr wrap="square" lIns="0" tIns="0" rIns="0" bIns="0" rtlCol="0" anchor="t"/>
          <a:lstStyle/>
          <a:p>
            <a:pPr indent="0" marL="0">
              <a:buNone/>
            </a:pPr>
            <a:r>
              <a:rPr lang="en-US" sz="1600" dirty="0">
                <a:solidFill>
                  <a:schemeClr val="tx1"/>
                </a:solidFill>
              </a:rPr>
              <a:t>Churn model, risk tiers, plain-language reasons</a:t>
            </a:r>
            <a:endParaRPr lang="en-US" sz="1600" dirty="0"/>
          </a:p>
        </p:txBody>
      </p:sp>
      <p:sp>
        <p:nvSpPr>
          <p:cNvPr id="21" name="Step Dashboard"/>
          <p:cNvSpPr/>
          <p:nvPr/>
        </p:nvSpPr>
        <p:spPr>
          <a:xfrm>
            <a:off x="7269480" y="1691640"/>
            <a:ext cx="2057400" cy="3383280"/>
          </a:xfrm>
          <a:prstGeom prst="rect">
            <a:avLst/>
          </a:prstGeom>
          <a:solidFill>
            <a:schemeClr val="bg2"/>
          </a:solidFill>
          <a:ln w="12700">
            <a:solidFill>
              <a:schemeClr val="bg2"/>
            </a:solidFill>
            <a:prstDash val="solid"/>
          </a:ln>
        </p:spPr>
      </p:sp>
      <p:sp>
        <p:nvSpPr>
          <p:cNvPr id="22" name="Icon Dashboard circle"/>
          <p:cNvSpPr/>
          <p:nvPr/>
        </p:nvSpPr>
        <p:spPr>
          <a:xfrm>
            <a:off x="7543800" y="1965960"/>
            <a:ext cx="731520" cy="731520"/>
          </a:xfrm>
          <a:prstGeom prst="ellipse">
            <a:avLst/>
          </a:prstGeom>
          <a:solidFill>
            <a:srgbClr val="12355B"/>
          </a:solidFill>
          <a:ln w="12700">
            <a:solidFill>
              <a:srgbClr val="12355B"/>
            </a:solidFill>
            <a:prstDash val="solid"/>
          </a:ln>
        </p:spPr>
      </p:sp>
      <p:pic>
        <p:nvPicPr>
          <p:cNvPr id="23" name="Icon Dashboard" descr="Icon Dashboard">    </p:cNvPr>
          <p:cNvPicPr>
            <a:picLocks noChangeAspect="1"/>
          </p:cNvPicPr>
          <p:nvPr/>
        </p:nvPicPr>
        <p:blipFill>
          <a:blip r:embed="rId4"/>
          <a:stretch>
            <a:fillRect/>
          </a:stretch>
        </p:blipFill>
        <p:spPr>
          <a:xfrm>
            <a:off x="7733995" y="2156155"/>
            <a:ext cx="351130" cy="351130"/>
          </a:xfrm>
          <a:prstGeom prst="rect">
            <a:avLst/>
          </a:prstGeom>
        </p:spPr>
      </p:pic>
      <p:sp>
        <p:nvSpPr>
          <p:cNvPr id="24" name="Text 18"/>
          <p:cNvSpPr txBox="1"/>
          <p:nvPr/>
        </p:nvSpPr>
        <p:spPr>
          <a:xfrm>
            <a:off x="7543800" y="2926080"/>
            <a:ext cx="1508760" cy="274320"/>
          </a:xfrm>
          <a:prstGeom prst="rect">
            <a:avLst/>
          </a:prstGeom>
          <a:noFill/>
          <a:ln/>
        </p:spPr>
        <p:txBody>
          <a:bodyPr wrap="square" lIns="0" tIns="0" rIns="0" bIns="0" rtlCol="0" anchor="t"/>
          <a:lstStyle/>
          <a:p>
            <a:pPr indent="0" marL="0">
              <a:buNone/>
            </a:pPr>
            <a:r>
              <a:rPr lang="en-US" sz="1400" dirty="0">
                <a:solidFill>
                  <a:srgbClr val="5B6575"/>
                </a:solidFill>
              </a:rPr>
              <a:t>Step 4</a:t>
            </a:r>
            <a:endParaRPr lang="en-US" sz="1400" dirty="0"/>
          </a:p>
        </p:txBody>
      </p:sp>
      <p:sp>
        <p:nvSpPr>
          <p:cNvPr id="25" name="Text 19"/>
          <p:cNvSpPr txBox="1"/>
          <p:nvPr/>
        </p:nvSpPr>
        <p:spPr>
          <a:xfrm>
            <a:off x="7543800" y="3200400"/>
            <a:ext cx="1508760" cy="457200"/>
          </a:xfrm>
          <a:prstGeom prst="rect">
            <a:avLst/>
          </a:prstGeom>
          <a:noFill/>
          <a:ln/>
        </p:spPr>
        <p:txBody>
          <a:bodyPr wrap="square" lIns="0" tIns="0" rIns="0" bIns="0" rtlCol="0" anchor="t"/>
          <a:lstStyle/>
          <a:p>
            <a:pPr indent="0" marL="0">
              <a:buNone/>
            </a:pPr>
            <a:r>
              <a:rPr lang="en-US" sz="2400" b="1" dirty="0">
                <a:solidFill>
                  <a:schemeClr val="tx2"/>
                </a:solidFill>
              </a:rPr>
              <a:t>Dashboard</a:t>
            </a:r>
            <a:endParaRPr lang="en-US" sz="2400" dirty="0"/>
          </a:p>
        </p:txBody>
      </p:sp>
      <p:sp>
        <p:nvSpPr>
          <p:cNvPr id="26" name="Text 20"/>
          <p:cNvSpPr txBox="1"/>
          <p:nvPr/>
        </p:nvSpPr>
        <p:spPr>
          <a:xfrm>
            <a:off x="7543800" y="3749040"/>
            <a:ext cx="1508760" cy="1188720"/>
          </a:xfrm>
          <a:prstGeom prst="rect">
            <a:avLst/>
          </a:prstGeom>
          <a:noFill/>
          <a:ln/>
        </p:spPr>
        <p:txBody>
          <a:bodyPr wrap="square" lIns="0" tIns="0" rIns="0" bIns="0" rtlCol="0" anchor="t"/>
          <a:lstStyle/>
          <a:p>
            <a:pPr indent="0" marL="0">
              <a:buNone/>
            </a:pPr>
            <a:r>
              <a:rPr lang="en-US" sz="1600" dirty="0">
                <a:solidFill>
                  <a:schemeClr val="tx1"/>
                </a:solidFill>
              </a:rPr>
              <a:t>Streamlit: filters, call list, ROI simulator</a:t>
            </a:r>
            <a:endParaRPr lang="en-US" sz="1600" dirty="0"/>
          </a:p>
        </p:txBody>
      </p:sp>
      <p:sp>
        <p:nvSpPr>
          <p:cNvPr id="27" name="Step GenAI"/>
          <p:cNvSpPr/>
          <p:nvPr/>
        </p:nvSpPr>
        <p:spPr>
          <a:xfrm>
            <a:off x="9509760" y="1691640"/>
            <a:ext cx="2057400" cy="3383280"/>
          </a:xfrm>
          <a:prstGeom prst="rect">
            <a:avLst/>
          </a:prstGeom>
          <a:solidFill>
            <a:schemeClr val="bg2"/>
          </a:solidFill>
          <a:ln w="12700">
            <a:solidFill>
              <a:schemeClr val="bg2"/>
            </a:solidFill>
            <a:prstDash val="solid"/>
          </a:ln>
        </p:spPr>
      </p:sp>
      <p:sp>
        <p:nvSpPr>
          <p:cNvPr id="28" name="Icon GenAI circle"/>
          <p:cNvSpPr/>
          <p:nvPr/>
        </p:nvSpPr>
        <p:spPr>
          <a:xfrm>
            <a:off x="9784080" y="1965960"/>
            <a:ext cx="731520" cy="731520"/>
          </a:xfrm>
          <a:prstGeom prst="ellipse">
            <a:avLst/>
          </a:prstGeom>
          <a:solidFill>
            <a:srgbClr val="E4572E"/>
          </a:solidFill>
          <a:ln w="12700">
            <a:solidFill>
              <a:srgbClr val="E4572E"/>
            </a:solidFill>
            <a:prstDash val="solid"/>
          </a:ln>
        </p:spPr>
      </p:sp>
      <p:pic>
        <p:nvPicPr>
          <p:cNvPr id="29" name="Icon GenAI" descr="Icon GenAI">    </p:cNvPr>
          <p:cNvPicPr>
            <a:picLocks noChangeAspect="1"/>
          </p:cNvPicPr>
          <p:nvPr/>
        </p:nvPicPr>
        <p:blipFill>
          <a:blip r:embed="rId5"/>
          <a:stretch>
            <a:fillRect/>
          </a:stretch>
        </p:blipFill>
        <p:spPr>
          <a:xfrm>
            <a:off x="9974275" y="2156155"/>
            <a:ext cx="351130" cy="351130"/>
          </a:xfrm>
          <a:prstGeom prst="rect">
            <a:avLst/>
          </a:prstGeom>
        </p:spPr>
      </p:pic>
      <p:sp>
        <p:nvSpPr>
          <p:cNvPr id="30" name="Text 23"/>
          <p:cNvSpPr txBox="1"/>
          <p:nvPr/>
        </p:nvSpPr>
        <p:spPr>
          <a:xfrm>
            <a:off x="9784080" y="2926080"/>
            <a:ext cx="1508760" cy="274320"/>
          </a:xfrm>
          <a:prstGeom prst="rect">
            <a:avLst/>
          </a:prstGeom>
          <a:noFill/>
          <a:ln/>
        </p:spPr>
        <p:txBody>
          <a:bodyPr wrap="square" lIns="0" tIns="0" rIns="0" bIns="0" rtlCol="0" anchor="t"/>
          <a:lstStyle/>
          <a:p>
            <a:pPr indent="0" marL="0">
              <a:buNone/>
            </a:pPr>
            <a:r>
              <a:rPr lang="en-US" sz="1400" dirty="0">
                <a:solidFill>
                  <a:srgbClr val="5B6575"/>
                </a:solidFill>
              </a:rPr>
              <a:t>Step 5</a:t>
            </a:r>
            <a:endParaRPr lang="en-US" sz="1400" dirty="0"/>
          </a:p>
        </p:txBody>
      </p:sp>
      <p:sp>
        <p:nvSpPr>
          <p:cNvPr id="31" name="Text 24"/>
          <p:cNvSpPr txBox="1"/>
          <p:nvPr/>
        </p:nvSpPr>
        <p:spPr>
          <a:xfrm>
            <a:off x="9784080" y="3200400"/>
            <a:ext cx="1508760" cy="457200"/>
          </a:xfrm>
          <a:prstGeom prst="rect">
            <a:avLst/>
          </a:prstGeom>
          <a:noFill/>
          <a:ln/>
        </p:spPr>
        <p:txBody>
          <a:bodyPr wrap="square" lIns="0" tIns="0" rIns="0" bIns="0" rtlCol="0" anchor="t"/>
          <a:lstStyle/>
          <a:p>
            <a:pPr indent="0" marL="0">
              <a:buNone/>
            </a:pPr>
            <a:r>
              <a:rPr lang="en-US" sz="2400" b="1" dirty="0">
                <a:solidFill>
                  <a:schemeClr val="tx2"/>
                </a:solidFill>
              </a:rPr>
              <a:t>GenAI</a:t>
            </a:r>
            <a:endParaRPr lang="en-US" sz="2400" dirty="0"/>
          </a:p>
        </p:txBody>
      </p:sp>
      <p:sp>
        <p:nvSpPr>
          <p:cNvPr id="32" name="Text 25"/>
          <p:cNvSpPr txBox="1"/>
          <p:nvPr/>
        </p:nvSpPr>
        <p:spPr>
          <a:xfrm>
            <a:off x="9784080" y="3749040"/>
            <a:ext cx="1508760" cy="1188720"/>
          </a:xfrm>
          <a:prstGeom prst="rect">
            <a:avLst/>
          </a:prstGeom>
          <a:noFill/>
          <a:ln/>
        </p:spPr>
        <p:txBody>
          <a:bodyPr wrap="square" lIns="0" tIns="0" rIns="0" bIns="0" rtlCol="0" anchor="t"/>
          <a:lstStyle/>
          <a:p>
            <a:pPr indent="0" marL="0">
              <a:buNone/>
            </a:pPr>
            <a:r>
              <a:rPr lang="en-US" sz="1600" dirty="0">
                <a:solidFill>
                  <a:schemeClr val="tx1"/>
                </a:solidFill>
              </a:rPr>
              <a:t>Call scripts, checked by rules before use</a:t>
            </a:r>
            <a:endParaRPr lang="en-US" sz="1600" dirty="0"/>
          </a:p>
        </p:txBody>
      </p:sp>
      <p:sp>
        <p:nvSpPr>
          <p:cNvPr id="33" name="Text 26"/>
          <p:cNvSpPr txBox="1"/>
          <p:nvPr/>
        </p:nvSpPr>
        <p:spPr>
          <a:xfrm>
            <a:off x="548640" y="5440680"/>
            <a:ext cx="11064240" cy="731520"/>
          </a:xfrm>
          <a:prstGeom prst="rect">
            <a:avLst/>
          </a:prstGeom>
          <a:noFill/>
          <a:ln/>
        </p:spPr>
        <p:txBody>
          <a:bodyPr wrap="square" lIns="0" tIns="0" rIns="0" bIns="0" rtlCol="0" anchor="t"/>
          <a:lstStyle/>
          <a:p>
            <a:pPr indent="0" marL="0">
              <a:buNone/>
            </a:pPr>
            <a:r>
              <a:rPr lang="en-US" sz="2000" b="1" dirty="0">
                <a:solidFill>
                  <a:schemeClr val="tx2"/>
                </a:solidFill>
              </a:rPr>
              <a:t>Insight: contract type, tenure and payment friction drive churn. Every step is tested, and AI output is verified before an agent sees it.</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A clean, constrained SQL database</a:t>
            </a:r>
            <a:endParaRPr lang="en-US" sz="3600" dirty="0"/>
          </a:p>
        </p:txBody>
      </p:sp>
      <p:sp>
        <p:nvSpPr>
          <p:cNvPr id="3" name="Table customers"/>
          <p:cNvSpPr/>
          <p:nvPr/>
        </p:nvSpPr>
        <p:spPr>
          <a:xfrm>
            <a:off x="548640" y="1691640"/>
            <a:ext cx="3063240" cy="1645920"/>
          </a:xfrm>
          <a:prstGeom prst="rect">
            <a:avLst/>
          </a:prstGeom>
          <a:solidFill>
            <a:schemeClr val="bg2"/>
          </a:solidFill>
          <a:ln w="12700">
            <a:solidFill>
              <a:schemeClr val="bg2"/>
            </a:solidFill>
            <a:prstDash val="solid"/>
          </a:ln>
        </p:spPr>
      </p:sp>
      <p:sp>
        <p:nvSpPr>
          <p:cNvPr id="4" name="Text 2"/>
          <p:cNvSpPr txBox="1"/>
          <p:nvPr/>
        </p:nvSpPr>
        <p:spPr>
          <a:xfrm>
            <a:off x="777240" y="1874520"/>
            <a:ext cx="2651760" cy="457200"/>
          </a:xfrm>
          <a:prstGeom prst="rect">
            <a:avLst/>
          </a:prstGeom>
          <a:noFill/>
          <a:ln/>
        </p:spPr>
        <p:txBody>
          <a:bodyPr wrap="square" lIns="0" tIns="0" rIns="0" bIns="0" rtlCol="0" anchor="t"/>
          <a:lstStyle/>
          <a:p>
            <a:pPr indent="0" marL="0">
              <a:buNone/>
            </a:pPr>
            <a:r>
              <a:rPr lang="en-US" sz="2200" b="1" dirty="0">
                <a:solidFill>
                  <a:schemeClr val="tx2"/>
                </a:solidFill>
              </a:rPr>
              <a:t>customers</a:t>
            </a:r>
            <a:endParaRPr lang="en-US" sz="2200" dirty="0"/>
          </a:p>
        </p:txBody>
      </p:sp>
      <p:sp>
        <p:nvSpPr>
          <p:cNvPr id="5" name="Text 3"/>
          <p:cNvSpPr txBox="1"/>
          <p:nvPr/>
        </p:nvSpPr>
        <p:spPr>
          <a:xfrm>
            <a:off x="777240" y="2423160"/>
            <a:ext cx="2651760" cy="731520"/>
          </a:xfrm>
          <a:prstGeom prst="rect">
            <a:avLst/>
          </a:prstGeom>
          <a:noFill/>
          <a:ln/>
        </p:spPr>
        <p:txBody>
          <a:bodyPr wrap="square" lIns="0" tIns="0" rIns="0" bIns="0" rtlCol="0" anchor="t"/>
          <a:lstStyle/>
          <a:p>
            <a:pPr indent="0" marL="0">
              <a:buNone/>
            </a:pPr>
            <a:r>
              <a:rPr lang="en-US" sz="1600" dirty="0">
                <a:solidFill>
                  <a:schemeClr val="tx1"/>
                </a:solidFill>
              </a:rPr>
              <a:t>demographics, tenure, churn label</a:t>
            </a:r>
            <a:endParaRPr lang="en-US" sz="1600" dirty="0"/>
          </a:p>
        </p:txBody>
      </p:sp>
      <p:sp>
        <p:nvSpPr>
          <p:cNvPr id="6" name="Table services"/>
          <p:cNvSpPr/>
          <p:nvPr/>
        </p:nvSpPr>
        <p:spPr>
          <a:xfrm>
            <a:off x="3794760" y="1691640"/>
            <a:ext cx="3063240" cy="1645920"/>
          </a:xfrm>
          <a:prstGeom prst="rect">
            <a:avLst/>
          </a:prstGeom>
          <a:solidFill>
            <a:schemeClr val="bg2"/>
          </a:solidFill>
          <a:ln w="12700">
            <a:solidFill>
              <a:schemeClr val="bg2"/>
            </a:solidFill>
            <a:prstDash val="solid"/>
          </a:ln>
        </p:spPr>
      </p:sp>
      <p:sp>
        <p:nvSpPr>
          <p:cNvPr id="7" name="Text 5"/>
          <p:cNvSpPr txBox="1"/>
          <p:nvPr/>
        </p:nvSpPr>
        <p:spPr>
          <a:xfrm>
            <a:off x="4023360" y="1874520"/>
            <a:ext cx="2651760" cy="457200"/>
          </a:xfrm>
          <a:prstGeom prst="rect">
            <a:avLst/>
          </a:prstGeom>
          <a:noFill/>
          <a:ln/>
        </p:spPr>
        <p:txBody>
          <a:bodyPr wrap="square" lIns="0" tIns="0" rIns="0" bIns="0" rtlCol="0" anchor="t"/>
          <a:lstStyle/>
          <a:p>
            <a:pPr indent="0" marL="0">
              <a:buNone/>
            </a:pPr>
            <a:r>
              <a:rPr lang="en-US" sz="2200" b="1" dirty="0">
                <a:solidFill>
                  <a:schemeClr val="tx2"/>
                </a:solidFill>
              </a:rPr>
              <a:t>services</a:t>
            </a:r>
            <a:endParaRPr lang="en-US" sz="2200" dirty="0"/>
          </a:p>
        </p:txBody>
      </p:sp>
      <p:sp>
        <p:nvSpPr>
          <p:cNvPr id="8" name="Text 6"/>
          <p:cNvSpPr txBox="1"/>
          <p:nvPr/>
        </p:nvSpPr>
        <p:spPr>
          <a:xfrm>
            <a:off x="4023360" y="2423160"/>
            <a:ext cx="2651760" cy="731520"/>
          </a:xfrm>
          <a:prstGeom prst="rect">
            <a:avLst/>
          </a:prstGeom>
          <a:noFill/>
          <a:ln/>
        </p:spPr>
        <p:txBody>
          <a:bodyPr wrap="square" lIns="0" tIns="0" rIns="0" bIns="0" rtlCol="0" anchor="t"/>
          <a:lstStyle/>
          <a:p>
            <a:pPr indent="0" marL="0">
              <a:buNone/>
            </a:pPr>
            <a:r>
              <a:rPr lang="en-US" sz="1600" dirty="0">
                <a:solidFill>
                  <a:schemeClr val="tx1"/>
                </a:solidFill>
              </a:rPr>
              <a:t>phone, internet and six add-ons</a:t>
            </a:r>
            <a:endParaRPr lang="en-US" sz="1600" dirty="0"/>
          </a:p>
        </p:txBody>
      </p:sp>
      <p:sp>
        <p:nvSpPr>
          <p:cNvPr id="9" name="Table billing"/>
          <p:cNvSpPr/>
          <p:nvPr/>
        </p:nvSpPr>
        <p:spPr>
          <a:xfrm>
            <a:off x="548640" y="3520440"/>
            <a:ext cx="3063240" cy="1645920"/>
          </a:xfrm>
          <a:prstGeom prst="rect">
            <a:avLst/>
          </a:prstGeom>
          <a:solidFill>
            <a:schemeClr val="bg2"/>
          </a:solidFill>
          <a:ln w="12700">
            <a:solidFill>
              <a:schemeClr val="bg2"/>
            </a:solidFill>
            <a:prstDash val="solid"/>
          </a:ln>
        </p:spPr>
      </p:sp>
      <p:sp>
        <p:nvSpPr>
          <p:cNvPr id="10" name="Text 8"/>
          <p:cNvSpPr txBox="1"/>
          <p:nvPr/>
        </p:nvSpPr>
        <p:spPr>
          <a:xfrm>
            <a:off x="777240" y="3703320"/>
            <a:ext cx="2651760" cy="457200"/>
          </a:xfrm>
          <a:prstGeom prst="rect">
            <a:avLst/>
          </a:prstGeom>
          <a:noFill/>
          <a:ln/>
        </p:spPr>
        <p:txBody>
          <a:bodyPr wrap="square" lIns="0" tIns="0" rIns="0" bIns="0" rtlCol="0" anchor="t"/>
          <a:lstStyle/>
          <a:p>
            <a:pPr indent="0" marL="0">
              <a:buNone/>
            </a:pPr>
            <a:r>
              <a:rPr lang="en-US" sz="2200" b="1" dirty="0">
                <a:solidFill>
                  <a:schemeClr val="tx2"/>
                </a:solidFill>
              </a:rPr>
              <a:t>billing</a:t>
            </a:r>
            <a:endParaRPr lang="en-US" sz="2200" dirty="0"/>
          </a:p>
        </p:txBody>
      </p:sp>
      <p:sp>
        <p:nvSpPr>
          <p:cNvPr id="11" name="Text 9"/>
          <p:cNvSpPr txBox="1"/>
          <p:nvPr/>
        </p:nvSpPr>
        <p:spPr>
          <a:xfrm>
            <a:off x="777240" y="4251960"/>
            <a:ext cx="2651760" cy="731520"/>
          </a:xfrm>
          <a:prstGeom prst="rect">
            <a:avLst/>
          </a:prstGeom>
          <a:noFill/>
          <a:ln/>
        </p:spPr>
        <p:txBody>
          <a:bodyPr wrap="square" lIns="0" tIns="0" rIns="0" bIns="0" rtlCol="0" anchor="t"/>
          <a:lstStyle/>
          <a:p>
            <a:pPr indent="0" marL="0">
              <a:buNone/>
            </a:pPr>
            <a:r>
              <a:rPr lang="en-US" sz="1600" dirty="0">
                <a:solidFill>
                  <a:schemeClr val="tx1"/>
                </a:solidFill>
              </a:rPr>
              <a:t>contract, payment method, charges</a:t>
            </a:r>
            <a:endParaRPr lang="en-US" sz="1600" dirty="0"/>
          </a:p>
        </p:txBody>
      </p:sp>
      <p:sp>
        <p:nvSpPr>
          <p:cNvPr id="12" name="Table churn_scores"/>
          <p:cNvSpPr/>
          <p:nvPr/>
        </p:nvSpPr>
        <p:spPr>
          <a:xfrm>
            <a:off x="3794760" y="3520440"/>
            <a:ext cx="3063240" cy="1645920"/>
          </a:xfrm>
          <a:prstGeom prst="rect">
            <a:avLst/>
          </a:prstGeom>
          <a:solidFill>
            <a:schemeClr val="bg2"/>
          </a:solidFill>
          <a:ln w="12700">
            <a:solidFill>
              <a:schemeClr val="bg2"/>
            </a:solidFill>
            <a:prstDash val="solid"/>
          </a:ln>
        </p:spPr>
      </p:sp>
      <p:sp>
        <p:nvSpPr>
          <p:cNvPr id="13" name="Text 11"/>
          <p:cNvSpPr txBox="1"/>
          <p:nvPr/>
        </p:nvSpPr>
        <p:spPr>
          <a:xfrm>
            <a:off x="4023360" y="3703320"/>
            <a:ext cx="2651760" cy="457200"/>
          </a:xfrm>
          <a:prstGeom prst="rect">
            <a:avLst/>
          </a:prstGeom>
          <a:noFill/>
          <a:ln/>
        </p:spPr>
        <p:txBody>
          <a:bodyPr wrap="square" lIns="0" tIns="0" rIns="0" bIns="0" rtlCol="0" anchor="t"/>
          <a:lstStyle/>
          <a:p>
            <a:pPr indent="0" marL="0">
              <a:buNone/>
            </a:pPr>
            <a:r>
              <a:rPr lang="en-US" sz="2200" b="1" dirty="0">
                <a:solidFill>
                  <a:schemeClr val="accent3"/>
                </a:solidFill>
              </a:rPr>
              <a:t>churn_scores</a:t>
            </a:r>
            <a:endParaRPr lang="en-US" sz="2200" dirty="0"/>
          </a:p>
        </p:txBody>
      </p:sp>
      <p:sp>
        <p:nvSpPr>
          <p:cNvPr id="14" name="Text 12"/>
          <p:cNvSpPr txBox="1"/>
          <p:nvPr/>
        </p:nvSpPr>
        <p:spPr>
          <a:xfrm>
            <a:off x="4023360" y="4251960"/>
            <a:ext cx="2651760" cy="731520"/>
          </a:xfrm>
          <a:prstGeom prst="rect">
            <a:avLst/>
          </a:prstGeom>
          <a:noFill/>
          <a:ln/>
        </p:spPr>
        <p:txBody>
          <a:bodyPr wrap="square" lIns="0" tIns="0" rIns="0" bIns="0" rtlCol="0" anchor="t"/>
          <a:lstStyle/>
          <a:p>
            <a:pPr indent="0" marL="0">
              <a:buNone/>
            </a:pPr>
            <a:r>
              <a:rPr lang="en-US" sz="1600" dirty="0">
                <a:solidFill>
                  <a:schemeClr val="tx1"/>
                </a:solidFill>
              </a:rPr>
              <a:t>model probability, tier, reasons</a:t>
            </a:r>
            <a:endParaRPr lang="en-US" sz="1600" dirty="0"/>
          </a:p>
        </p:txBody>
      </p:sp>
      <p:sp>
        <p:nvSpPr>
          <p:cNvPr id="15" name="Text 13"/>
          <p:cNvSpPr txBox="1"/>
          <p:nvPr/>
        </p:nvSpPr>
        <p:spPr>
          <a:xfrm>
            <a:off x="548640" y="5440680"/>
            <a:ext cx="6309360" cy="640080"/>
          </a:xfrm>
          <a:prstGeom prst="rect">
            <a:avLst/>
          </a:prstGeom>
          <a:noFill/>
          <a:ln/>
        </p:spPr>
        <p:txBody>
          <a:bodyPr wrap="square" lIns="0" tIns="0" rIns="0" bIns="0" rtlCol="0" anchor="t"/>
          <a:lstStyle/>
          <a:p>
            <a:pPr indent="0" marL="0">
              <a:buNone/>
            </a:pPr>
            <a:r>
              <a:rPr lang="en-US" sz="1600" i="1" dirty="0">
                <a:solidFill>
                  <a:srgbClr val="5B6575"/>
                </a:solidFill>
              </a:rPr>
              <a:t>View v_customer_360 joins all four tables for every query and the dashboard.</a:t>
            </a:r>
            <a:endParaRPr lang="en-US" sz="1600" dirty="0"/>
          </a:p>
        </p:txBody>
      </p:sp>
      <p:sp>
        <p:nvSpPr>
          <p:cNvPr id="16" name="Text 14"/>
          <p:cNvSpPr txBox="1"/>
          <p:nvPr/>
        </p:nvSpPr>
        <p:spPr>
          <a:xfrm>
            <a:off x="7315200" y="1691640"/>
            <a:ext cx="4297680" cy="457200"/>
          </a:xfrm>
          <a:prstGeom prst="rect">
            <a:avLst/>
          </a:prstGeom>
          <a:noFill/>
          <a:ln/>
        </p:spPr>
        <p:txBody>
          <a:bodyPr wrap="square" lIns="0" tIns="0" rIns="0" bIns="0" rtlCol="0" anchor="t"/>
          <a:lstStyle/>
          <a:p>
            <a:pPr indent="0" marL="0">
              <a:buNone/>
            </a:pPr>
            <a:r>
              <a:rPr lang="en-US" sz="2200" b="1" dirty="0">
                <a:solidFill>
                  <a:schemeClr val="tx2"/>
                </a:solidFill>
              </a:rPr>
              <a:t>Data checks before loading</a:t>
            </a:r>
            <a:endParaRPr lang="en-US" sz="2200" dirty="0"/>
          </a:p>
        </p:txBody>
      </p:sp>
      <p:sp>
        <p:nvSpPr>
          <p:cNvPr id="17" name="Text 15"/>
          <p:cNvSpPr txBox="1"/>
          <p:nvPr/>
        </p:nvSpPr>
        <p:spPr>
          <a:xfrm>
            <a:off x="7315200" y="2286000"/>
            <a:ext cx="429768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11 blank TotalCharges, all new customers (tenure 0): stored as NULL, not guessed</a:t>
            </a:r>
            <a:endParaRPr lang="en-US" sz="1600" dirty="0"/>
          </a:p>
          <a:p>
            <a:pPr marL="342900" indent="-342900">
              <a:spcAft>
                <a:spcPts val="800"/>
              </a:spcAft>
              <a:buSzPct val="100000"/>
              <a:buChar char="•"/>
            </a:pPr>
            <a:r>
              <a:rPr lang="en-US" sz="1600" dirty="0">
                <a:solidFill>
                  <a:schemeClr val="tx1"/>
                </a:solidFill>
              </a:rPr>
              <a:t>No duplicate customer IDs</a:t>
            </a:r>
            <a:endParaRPr lang="en-US" sz="1600" dirty="0"/>
          </a:p>
          <a:p>
            <a:pPr marL="342900" indent="-342900">
              <a:spcAft>
                <a:spcPts val="800"/>
              </a:spcAft>
              <a:buSzPct val="100000"/>
              <a:buChar char="•"/>
            </a:pPr>
            <a:r>
              <a:rPr lang="en-US" sz="1600" dirty="0">
                <a:solidFill>
                  <a:schemeClr val="tx1"/>
                </a:solidFill>
              </a:rPr>
              <a:t>Every table reconciles to 7,043 rows</a:t>
            </a:r>
            <a:endParaRPr lang="en-US" sz="1600" dirty="0"/>
          </a:p>
          <a:p>
            <a:pPr marL="342900" indent="-342900">
              <a:spcAft>
                <a:spcPts val="800"/>
              </a:spcAft>
              <a:buSzPct val="100000"/>
              <a:buChar char="•"/>
            </a:pPr>
            <a:r>
              <a:rPr lang="en-US" sz="1600" dirty="0">
                <a:solidFill>
                  <a:schemeClr val="tx1"/>
                </a:solidFill>
              </a:rPr>
              <a:t>CHECK, key and index constraints on every table</a:t>
            </a:r>
            <a:endParaRPr lang="en-US" sz="1600" dirty="0"/>
          </a:p>
        </p:txBody>
      </p:sp>
      <p:sp>
        <p:nvSpPr>
          <p:cNvPr id="18" name="Text 16"/>
          <p:cNvSpPr txBox="1"/>
          <p:nvPr/>
        </p:nvSpPr>
        <p:spPr>
          <a:xfrm>
            <a:off x="7315200" y="4572000"/>
            <a:ext cx="4297680" cy="365760"/>
          </a:xfrm>
          <a:prstGeom prst="rect">
            <a:avLst/>
          </a:prstGeom>
          <a:noFill/>
          <a:ln/>
        </p:spPr>
        <p:txBody>
          <a:bodyPr wrap="square" lIns="0" tIns="0" rIns="0" bIns="0" rtlCol="0" anchor="t"/>
          <a:lstStyle/>
          <a:p>
            <a:pPr indent="0" marL="0">
              <a:buNone/>
            </a:pPr>
            <a:r>
              <a:rPr lang="en-US" sz="1800" b="1" dirty="0">
                <a:solidFill>
                  <a:schemeClr val="tx2"/>
                </a:solidFill>
              </a:rPr>
              <a:t>SQL skills shown</a:t>
            </a:r>
            <a:endParaRPr lang="en-US" sz="1800" dirty="0"/>
          </a:p>
        </p:txBody>
      </p:sp>
      <p:sp>
        <p:nvSpPr>
          <p:cNvPr id="19" name="Text 17"/>
          <p:cNvSpPr txBox="1"/>
          <p:nvPr/>
        </p:nvSpPr>
        <p:spPr>
          <a:xfrm>
            <a:off x="7315200" y="4983480"/>
            <a:ext cx="4297680" cy="822960"/>
          </a:xfrm>
          <a:prstGeom prst="rect">
            <a:avLst/>
          </a:prstGeom>
          <a:noFill/>
          <a:ln/>
        </p:spPr>
        <p:txBody>
          <a:bodyPr wrap="square" lIns="0" tIns="0" rIns="0" bIns="0" rtlCol="0" anchor="t"/>
          <a:lstStyle/>
          <a:p>
            <a:pPr indent="0" marL="0">
              <a:buNone/>
            </a:pPr>
            <a:r>
              <a:rPr lang="en-US" sz="1600" dirty="0">
                <a:solidFill>
                  <a:schemeClr val="tx1"/>
                </a:solidFill>
              </a:rPr>
              <a:t>JOIN, WHERE, GROUP BY, HAVING, CASE, CTE and RANK() window function</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Contract type is the biggest churn lever</a:t>
            </a:r>
            <a:endParaRPr lang="en-US" sz="3600" dirty="0"/>
          </a:p>
        </p:txBody>
      </p:sp>
      <p:graphicFrame>
        <p:nvGraphicFramePr>
          <p:cNvPr id="3" name="Churn by contract chart" descr=""/>
          <p:cNvGraphicFramePr/>
          <p:nvPr/>
        </p:nvGraphicFramePr>
        <p:xfrm>
          <a:off x="548640" y="169164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89320"/>
            <a:ext cx="6583680" cy="274320"/>
          </a:xfrm>
          <a:prstGeom prst="rect">
            <a:avLst/>
          </a:prstGeom>
          <a:noFill/>
          <a:ln/>
        </p:spPr>
        <p:txBody>
          <a:bodyPr wrap="square" lIns="0" tIns="0" rIns="0" bIns="0" rtlCol="0" anchor="ctr"/>
          <a:lstStyle/>
          <a:p>
            <a:pPr indent="0" marL="0">
              <a:buNone/>
            </a:pPr>
            <a:r>
              <a:rPr lang="en-US" sz="1200" dirty="0">
                <a:solidFill>
                  <a:srgbClr val="5B6575"/>
                </a:solidFill>
              </a:rPr>
              <a:t>Churn rate by contract type</a:t>
            </a:r>
            <a:endParaRPr lang="en-US" sz="1200" dirty="0"/>
          </a:p>
        </p:txBody>
      </p:sp>
      <p:sp>
        <p:nvSpPr>
          <p:cNvPr id="5" name="Callout 1"/>
          <p:cNvSpPr/>
          <p:nvPr/>
        </p:nvSpPr>
        <p:spPr>
          <a:xfrm>
            <a:off x="7589520" y="1691640"/>
            <a:ext cx="4023360" cy="2057400"/>
          </a:xfrm>
          <a:prstGeom prst="rect">
            <a:avLst/>
          </a:prstGeom>
          <a:solidFill>
            <a:schemeClr val="bg2"/>
          </a:solidFill>
          <a:ln w="12700">
            <a:solidFill>
              <a:schemeClr val="bg2"/>
            </a:solidFill>
            <a:prstDash val="solid"/>
          </a:ln>
        </p:spPr>
      </p:sp>
      <p:sp>
        <p:nvSpPr>
          <p:cNvPr id="6" name="Text 3"/>
          <p:cNvSpPr txBox="1"/>
          <p:nvPr/>
        </p:nvSpPr>
        <p:spPr>
          <a:xfrm>
            <a:off x="7863840" y="1874520"/>
            <a:ext cx="3474720" cy="822960"/>
          </a:xfrm>
          <a:prstGeom prst="rect">
            <a:avLst/>
          </a:prstGeom>
          <a:noFill/>
          <a:ln/>
        </p:spPr>
        <p:txBody>
          <a:bodyPr wrap="square" lIns="0" tIns="0" rIns="0" bIns="0" rtlCol="0" anchor="ctr"/>
          <a:lstStyle/>
          <a:p>
            <a:pPr indent="0" marL="0">
              <a:buNone/>
            </a:pPr>
            <a:r>
              <a:rPr lang="en-US" sz="4800" b="1" dirty="0">
                <a:solidFill>
                  <a:schemeClr val="accent3"/>
                </a:solidFill>
              </a:rPr>
              <a:t>88.6%</a:t>
            </a:r>
            <a:endParaRPr lang="en-US" sz="4800" dirty="0"/>
          </a:p>
        </p:txBody>
      </p:sp>
      <p:sp>
        <p:nvSpPr>
          <p:cNvPr id="7" name="Text 4"/>
          <p:cNvSpPr txBox="1"/>
          <p:nvPr/>
        </p:nvSpPr>
        <p:spPr>
          <a:xfrm>
            <a:off x="7863840" y="2743200"/>
            <a:ext cx="3474720" cy="914400"/>
          </a:xfrm>
          <a:prstGeom prst="rect">
            <a:avLst/>
          </a:prstGeom>
          <a:noFill/>
          <a:ln/>
        </p:spPr>
        <p:txBody>
          <a:bodyPr wrap="square" lIns="0" tIns="0" rIns="0" bIns="0" rtlCol="0" anchor="t"/>
          <a:lstStyle/>
          <a:p>
            <a:pPr indent="0" marL="0">
              <a:buNone/>
            </a:pPr>
            <a:r>
              <a:rPr lang="en-US" sz="1600" dirty="0">
                <a:solidFill>
                  <a:schemeClr val="tx1"/>
                </a:solidFill>
              </a:rPr>
              <a:t>of all churners are on month-to-month contracts (1,655 of 1,869)</a:t>
            </a:r>
            <a:endParaRPr lang="en-US" sz="1600" dirty="0"/>
          </a:p>
        </p:txBody>
      </p:sp>
      <p:sp>
        <p:nvSpPr>
          <p:cNvPr id="8" name="Callout 2"/>
          <p:cNvSpPr/>
          <p:nvPr/>
        </p:nvSpPr>
        <p:spPr>
          <a:xfrm>
            <a:off x="7589520" y="3931920"/>
            <a:ext cx="4023360" cy="2057400"/>
          </a:xfrm>
          <a:prstGeom prst="rect">
            <a:avLst/>
          </a:prstGeom>
          <a:solidFill>
            <a:schemeClr val="bg2"/>
          </a:solidFill>
          <a:ln w="12700">
            <a:solidFill>
              <a:schemeClr val="bg2"/>
            </a:solidFill>
            <a:prstDash val="solid"/>
          </a:ln>
        </p:spPr>
      </p:sp>
      <p:sp>
        <p:nvSpPr>
          <p:cNvPr id="9" name="Text 6"/>
          <p:cNvSpPr txBox="1"/>
          <p:nvPr/>
        </p:nvSpPr>
        <p:spPr>
          <a:xfrm>
            <a:off x="7863840" y="4114800"/>
            <a:ext cx="3474720" cy="822960"/>
          </a:xfrm>
          <a:prstGeom prst="rect">
            <a:avLst/>
          </a:prstGeom>
          <a:noFill/>
          <a:ln/>
        </p:spPr>
        <p:txBody>
          <a:bodyPr wrap="square" lIns="0" tIns="0" rIns="0" bIns="0" rtlCol="0" anchor="ctr"/>
          <a:lstStyle/>
          <a:p>
            <a:pPr indent="0" marL="0">
              <a:buNone/>
            </a:pPr>
            <a:r>
              <a:rPr lang="en-US" sz="4800" b="1" dirty="0">
                <a:solidFill>
                  <a:schemeClr val="tx2"/>
                </a:solidFill>
              </a:rPr>
              <a:t>47.4%</a:t>
            </a:r>
            <a:endParaRPr lang="en-US" sz="4800" dirty="0"/>
          </a:p>
        </p:txBody>
      </p:sp>
      <p:sp>
        <p:nvSpPr>
          <p:cNvPr id="10" name="Text 7"/>
          <p:cNvSpPr txBox="1"/>
          <p:nvPr/>
        </p:nvSpPr>
        <p:spPr>
          <a:xfrm>
            <a:off x="7863840" y="4983480"/>
            <a:ext cx="3474720" cy="914400"/>
          </a:xfrm>
          <a:prstGeom prst="rect">
            <a:avLst/>
          </a:prstGeom>
          <a:noFill/>
          <a:ln/>
        </p:spPr>
        <p:txBody>
          <a:bodyPr wrap="square" lIns="0" tIns="0" rIns="0" bIns="0" rtlCol="0" anchor="t"/>
          <a:lstStyle/>
          <a:p>
            <a:pPr indent="0" marL="0">
              <a:buNone/>
            </a:pPr>
            <a:r>
              <a:rPr lang="en-US" sz="1600" dirty="0">
                <a:solidFill>
                  <a:schemeClr val="tx1"/>
                </a:solidFill>
              </a:rPr>
              <a:t>churn in the first 12 months, against 9.5% after 48 months</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The riskiest segment: monthly fiber customers in year one</a:t>
            </a:r>
            <a:endParaRPr lang="en-US" sz="3600" dirty="0"/>
          </a:p>
        </p:txBody>
      </p:sp>
      <p:graphicFrame>
        <p:nvGraphicFramePr>
          <p:cNvPr id="8" name="Churn heatmap"/>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1645920"/>
                <a:gridCol w="1280160"/>
                <a:gridCol w="1280160"/>
                <a:gridCol w="1280160"/>
                <a:gridCol w="1280160"/>
              </a:tblGrid>
              <a:tr h="502920">
                <a:tc>
                  <a:txBody>
                    <a:bodyPr/>
                    <a:lstStyle/>
                    <a:p>
                      <a:pPr indent="0" marL="0">
                        <a:buNone/>
                      </a:pPr>
                      <a:endParaRPr lang="en-US" sz="1200" dirty="0"/>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0-12 months</a:t>
                      </a:r>
                      <a:endParaRPr lang="en-US" sz="1400" dirty="0"/>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13-24 months</a:t>
                      </a:r>
                      <a:endParaRPr lang="en-US" sz="1400" dirty="0"/>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25-48 months</a:t>
                      </a:r>
                      <a:endParaRPr lang="en-US" sz="1400" dirty="0"/>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tx2"/>
                          </a:solidFill>
                        </a:rPr>
                        <a:t>49+ months</a:t>
                      </a:r>
                      <a:endParaRPr lang="en-US" sz="1400" dirty="0"/>
                    </a:p>
                  </a:txBody>
                  <a:tcPr marL="91440" marR="91440" marT="45720" marB="4572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r>
              <a:tr h="914400">
                <a:tc>
                  <a:txBody>
                    <a:bodyPr/>
                    <a:lstStyle/>
                    <a:p>
                      <a:pPr indent="0" marL="0">
                        <a:buNone/>
                      </a:pPr>
                      <a:r>
                        <a:rPr lang="en-US" sz="1400" b="1" dirty="0">
                          <a:solidFill>
                            <a:schemeClr val="tx2"/>
                          </a:solidFill>
                        </a:rPr>
                        <a:t>Month-to-month</a:t>
                      </a:r>
                      <a:endParaRPr lang="en-US" sz="14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rgbClr val="FFFFFF"/>
                          </a:solidFill>
                        </a:rPr>
                        <a:t>51.4%</a:t>
                      </a:r>
                      <a:endParaRPr lang="en-US" sz="1200" dirty="0"/>
                    </a:p>
                    <a:p>
                      <a:pPr algn="ctr" indent="0" marL="0">
                        <a:buNone/>
                      </a:pPr>
                      <a:r>
                        <a:rPr lang="en-US" sz="1200" dirty="0">
                          <a:solidFill>
                            <a:srgbClr val="FFFFFF"/>
                          </a:solidFill>
                        </a:rPr>
                        <a:t>n=1,994</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C383C"/>
                    </a:solidFill>
                  </a:tcPr>
                </a:tc>
                <a:tc>
                  <a:txBody>
                    <a:bodyPr/>
                    <a:lstStyle/>
                    <a:p>
                      <a:pPr algn="ctr" indent="0" marL="0">
                        <a:buNone/>
                      </a:pPr>
                      <a:r>
                        <a:rPr lang="en-US" sz="1800" b="1" dirty="0">
                          <a:solidFill>
                            <a:srgbClr val="FFFFFF"/>
                          </a:solidFill>
                        </a:rPr>
                        <a:t>37.7%</a:t>
                      </a:r>
                      <a:endParaRPr lang="en-US" sz="1200" dirty="0"/>
                    </a:p>
                    <a:p>
                      <a:pPr algn="ctr" indent="0" marL="0">
                        <a:buNone/>
                      </a:pPr>
                      <a:r>
                        <a:rPr lang="en-US" sz="1200" dirty="0">
                          <a:solidFill>
                            <a:srgbClr val="FFFFFF"/>
                          </a:solidFill>
                        </a:rPr>
                        <a:t>n=737</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A6C63"/>
                    </a:solidFill>
                  </a:tcPr>
                </a:tc>
                <a:tc>
                  <a:txBody>
                    <a:bodyPr/>
                    <a:lstStyle/>
                    <a:p>
                      <a:pPr algn="ctr" indent="0" marL="0">
                        <a:buNone/>
                      </a:pPr>
                      <a:r>
                        <a:rPr lang="en-US" sz="1800" b="1" dirty="0">
                          <a:solidFill>
                            <a:schemeClr val="tx1"/>
                          </a:solidFill>
                        </a:rPr>
                        <a:t>32.9%</a:t>
                      </a:r>
                      <a:endParaRPr lang="en-US" sz="1200" dirty="0"/>
                    </a:p>
                    <a:p>
                      <a:pPr algn="ctr" indent="0" marL="0">
                        <a:buNone/>
                      </a:pPr>
                      <a:r>
                        <a:rPr lang="en-US" sz="1200" dirty="0">
                          <a:solidFill>
                            <a:schemeClr val="tx1"/>
                          </a:solidFill>
                        </a:rPr>
                        <a:t>n=802</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F7E70"/>
                    </a:solidFill>
                  </a:tcPr>
                </a:tc>
                <a:tc>
                  <a:txBody>
                    <a:bodyPr/>
                    <a:lstStyle/>
                    <a:p>
                      <a:pPr algn="ctr" indent="0" marL="0">
                        <a:buNone/>
                      </a:pPr>
                      <a:r>
                        <a:rPr lang="en-US" sz="1800" b="1" dirty="0">
                          <a:solidFill>
                            <a:schemeClr val="tx1"/>
                          </a:solidFill>
                        </a:rPr>
                        <a:t>26.0%</a:t>
                      </a:r>
                      <a:endParaRPr lang="en-US" sz="1200" dirty="0"/>
                    </a:p>
                    <a:p>
                      <a:pPr algn="ctr" indent="0" marL="0">
                        <a:buNone/>
                      </a:pPr>
                      <a:r>
                        <a:rPr lang="en-US" sz="1200" dirty="0">
                          <a:solidFill>
                            <a:schemeClr val="tx1"/>
                          </a:solidFill>
                        </a:rPr>
                        <a:t>n=342</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59884"/>
                    </a:solidFill>
                  </a:tcPr>
                </a:tc>
              </a:tr>
              <a:tr h="914400">
                <a:tc>
                  <a:txBody>
                    <a:bodyPr/>
                    <a:lstStyle/>
                    <a:p>
                      <a:pPr indent="0" marL="0">
                        <a:buNone/>
                      </a:pPr>
                      <a:r>
                        <a:rPr lang="en-US" sz="1400" b="1" dirty="0">
                          <a:solidFill>
                            <a:schemeClr val="tx2"/>
                          </a:solidFill>
                        </a:rPr>
                        <a:t>One year</a:t>
                      </a:r>
                      <a:endParaRPr lang="en-US" sz="14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tx1"/>
                          </a:solidFill>
                        </a:rPr>
                        <a:t>10.5%</a:t>
                      </a:r>
                      <a:endParaRPr lang="en-US" sz="1200" dirty="0"/>
                    </a:p>
                    <a:p>
                      <a:pPr algn="ctr" indent="0" marL="0">
                        <a:buNone/>
                      </a:pPr>
                      <a:r>
                        <a:rPr lang="en-US" sz="1200" dirty="0">
                          <a:solidFill>
                            <a:schemeClr val="tx1"/>
                          </a:solidFill>
                        </a:rPr>
                        <a:t>n=124</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5D2AF"/>
                    </a:solidFill>
                  </a:tcPr>
                </a:tc>
                <a:tc>
                  <a:txBody>
                    <a:bodyPr/>
                    <a:lstStyle/>
                    <a:p>
                      <a:pPr algn="ctr" indent="0" marL="0">
                        <a:buNone/>
                      </a:pPr>
                      <a:r>
                        <a:rPr lang="en-US" sz="1800" b="1" dirty="0">
                          <a:solidFill>
                            <a:schemeClr val="tx1"/>
                          </a:solidFill>
                        </a:rPr>
                        <a:t>8.1%</a:t>
                      </a:r>
                      <a:endParaRPr lang="en-US" sz="1200" dirty="0"/>
                    </a:p>
                    <a:p>
                      <a:pPr algn="ctr" indent="0" marL="0">
                        <a:buNone/>
                      </a:pPr>
                      <a:r>
                        <a:rPr lang="en-US" sz="1200" dirty="0">
                          <a:solidFill>
                            <a:schemeClr val="tx1"/>
                          </a:solidFill>
                        </a:rPr>
                        <a:t>n=197</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7DBB6"/>
                    </a:solidFill>
                  </a:tcPr>
                </a:tc>
                <a:tc>
                  <a:txBody>
                    <a:bodyPr/>
                    <a:lstStyle/>
                    <a:p>
                      <a:pPr algn="ctr" indent="0" marL="0">
                        <a:buNone/>
                      </a:pPr>
                      <a:r>
                        <a:rPr lang="en-US" sz="1800" b="1" dirty="0">
                          <a:solidFill>
                            <a:schemeClr val="tx1"/>
                          </a:solidFill>
                        </a:rPr>
                        <a:t>10.6%</a:t>
                      </a:r>
                      <a:endParaRPr lang="en-US" sz="1200" dirty="0"/>
                    </a:p>
                    <a:p>
                      <a:pPr algn="ctr" indent="0" marL="0">
                        <a:buNone/>
                      </a:pPr>
                      <a:r>
                        <a:rPr lang="en-US" sz="1200" dirty="0">
                          <a:solidFill>
                            <a:schemeClr val="tx1"/>
                          </a:solidFill>
                        </a:rPr>
                        <a:t>n=518</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5D2AF"/>
                    </a:solidFill>
                  </a:tcPr>
                </a:tc>
                <a:tc>
                  <a:txBody>
                    <a:bodyPr/>
                    <a:lstStyle/>
                    <a:p>
                      <a:pPr algn="ctr" indent="0" marL="0">
                        <a:buNone/>
                      </a:pPr>
                      <a:r>
                        <a:rPr lang="en-US" sz="1800" b="1" dirty="0">
                          <a:solidFill>
                            <a:schemeClr val="tx1"/>
                          </a:solidFill>
                        </a:rPr>
                        <a:t>12.9%</a:t>
                      </a:r>
                      <a:endParaRPr lang="en-US" sz="1200" dirty="0"/>
                    </a:p>
                    <a:p>
                      <a:pPr algn="ctr" indent="0" marL="0">
                        <a:buNone/>
                      </a:pPr>
                      <a:r>
                        <a:rPr lang="en-US" sz="1200" dirty="0">
                          <a:solidFill>
                            <a:schemeClr val="tx1"/>
                          </a:solidFill>
                        </a:rPr>
                        <a:t>n=634</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C9A9"/>
                    </a:solidFill>
                  </a:tcPr>
                </a:tc>
              </a:tr>
              <a:tr h="914400">
                <a:tc>
                  <a:txBody>
                    <a:bodyPr/>
                    <a:lstStyle/>
                    <a:p>
                      <a:pPr indent="0" marL="0">
                        <a:buNone/>
                      </a:pPr>
                      <a:r>
                        <a:rPr lang="en-US" sz="1400" b="1" dirty="0">
                          <a:solidFill>
                            <a:schemeClr val="tx2"/>
                          </a:solidFill>
                        </a:rPr>
                        <a:t>Two year</a:t>
                      </a:r>
                      <a:endParaRPr lang="en-US" sz="14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800" b="1" dirty="0">
                          <a:solidFill>
                            <a:schemeClr val="tx1"/>
                          </a:solidFill>
                        </a:rPr>
                        <a:t>0.0%</a:t>
                      </a:r>
                      <a:endParaRPr lang="en-US" sz="1200" dirty="0"/>
                    </a:p>
                    <a:p>
                      <a:pPr algn="ctr" indent="0" marL="0">
                        <a:buNone/>
                      </a:pPr>
                      <a:r>
                        <a:rPr lang="en-US" sz="1200" dirty="0">
                          <a:solidFill>
                            <a:schemeClr val="tx1"/>
                          </a:solidFill>
                        </a:rPr>
                        <a:t>n=68</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ACD"/>
                    </a:solidFill>
                  </a:tcPr>
                </a:tc>
                <a:tc>
                  <a:txBody>
                    <a:bodyPr/>
                    <a:lstStyle/>
                    <a:p>
                      <a:pPr algn="ctr" indent="0" marL="0">
                        <a:buNone/>
                      </a:pPr>
                      <a:r>
                        <a:rPr lang="en-US" sz="1800" b="1" dirty="0">
                          <a:solidFill>
                            <a:schemeClr val="tx1"/>
                          </a:solidFill>
                        </a:rPr>
                        <a:t>0.0%</a:t>
                      </a:r>
                      <a:endParaRPr lang="en-US" sz="1200" dirty="0"/>
                    </a:p>
                    <a:p>
                      <a:pPr algn="ctr" indent="0" marL="0">
                        <a:buNone/>
                      </a:pPr>
                      <a:r>
                        <a:rPr lang="en-US" sz="1200" dirty="0">
                          <a:solidFill>
                            <a:schemeClr val="tx1"/>
                          </a:solidFill>
                        </a:rPr>
                        <a:t>n=90</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ACD"/>
                    </a:solidFill>
                  </a:tcPr>
                </a:tc>
                <a:tc>
                  <a:txBody>
                    <a:bodyPr/>
                    <a:lstStyle/>
                    <a:p>
                      <a:pPr algn="ctr" indent="0" marL="0">
                        <a:buNone/>
                      </a:pPr>
                      <a:r>
                        <a:rPr lang="en-US" sz="1800" b="1" dirty="0">
                          <a:solidFill>
                            <a:schemeClr val="tx1"/>
                          </a:solidFill>
                        </a:rPr>
                        <a:t>2.2%</a:t>
                      </a:r>
                      <a:endParaRPr lang="en-US" sz="1200" dirty="0"/>
                    </a:p>
                    <a:p>
                      <a:pPr algn="ctr" indent="0" marL="0">
                        <a:buNone/>
                      </a:pPr>
                      <a:r>
                        <a:rPr lang="en-US" sz="1200" dirty="0">
                          <a:solidFill>
                            <a:schemeClr val="tx1"/>
                          </a:solidFill>
                        </a:rPr>
                        <a:t>n=274</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F2C7"/>
                    </a:solidFill>
                  </a:tcPr>
                </a:tc>
                <a:tc>
                  <a:txBody>
                    <a:bodyPr/>
                    <a:lstStyle/>
                    <a:p>
                      <a:pPr algn="ctr" indent="0" marL="0">
                        <a:buNone/>
                      </a:pPr>
                      <a:r>
                        <a:rPr lang="en-US" sz="1800" b="1" dirty="0">
                          <a:solidFill>
                            <a:schemeClr val="tx1"/>
                          </a:solidFill>
                        </a:rPr>
                        <a:t>3.3%</a:t>
                      </a:r>
                      <a:endParaRPr lang="en-US" sz="1200" dirty="0"/>
                    </a:p>
                    <a:p>
                      <a:pPr algn="ctr" indent="0" marL="0">
                        <a:buNone/>
                      </a:pPr>
                      <a:r>
                        <a:rPr lang="en-US" sz="1200" dirty="0">
                          <a:solidFill>
                            <a:schemeClr val="tx1"/>
                          </a:solidFill>
                        </a:rPr>
                        <a:t>n=1,263</a:t>
                      </a:r>
                      <a:endParaRPr lang="en-US" sz="1200" dirty="0"/>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CEEC4"/>
                    </a:solidFill>
                  </a:tcPr>
                </a:tc>
              </a:tr>
            </a:tbl>
          </a:graphicData>
        </a:graphic>
      </p:graphicFrame>
      <p:sp>
        <p:nvSpPr>
          <p:cNvPr id="4" name="Text 1"/>
          <p:cNvSpPr txBox="1"/>
          <p:nvPr/>
        </p:nvSpPr>
        <p:spPr>
          <a:xfrm>
            <a:off x="548640" y="5074920"/>
            <a:ext cx="6766560" cy="274320"/>
          </a:xfrm>
          <a:prstGeom prst="rect">
            <a:avLst/>
          </a:prstGeom>
          <a:noFill/>
          <a:ln/>
        </p:spPr>
        <p:txBody>
          <a:bodyPr wrap="square" lIns="0" tIns="0" rIns="0" bIns="0" rtlCol="0" anchor="ctr"/>
          <a:lstStyle/>
          <a:p>
            <a:pPr indent="0" marL="0">
              <a:buNone/>
            </a:pPr>
            <a:r>
              <a:rPr lang="en-US" sz="1200" dirty="0">
                <a:solidFill>
                  <a:srgbClr val="5B6575"/>
                </a:solidFill>
              </a:rPr>
              <a:t>Churn rate by contract and tenure band (n = customers in cell)</a:t>
            </a:r>
            <a:endParaRPr lang="en-US" sz="1200" dirty="0"/>
          </a:p>
        </p:txBody>
      </p:sp>
      <p:sp>
        <p:nvSpPr>
          <p:cNvPr id="5" name="Segment callout"/>
          <p:cNvSpPr/>
          <p:nvPr/>
        </p:nvSpPr>
        <p:spPr>
          <a:xfrm>
            <a:off x="548640" y="5440680"/>
            <a:ext cx="6766560" cy="777240"/>
          </a:xfrm>
          <a:prstGeom prst="rect">
            <a:avLst/>
          </a:prstGeom>
          <a:solidFill>
            <a:schemeClr val="bg2"/>
          </a:solidFill>
          <a:ln w="12700">
            <a:solidFill>
              <a:schemeClr val="bg2"/>
            </a:solidFill>
            <a:prstDash val="solid"/>
          </a:ln>
        </p:spPr>
      </p:sp>
      <p:sp>
        <p:nvSpPr>
          <p:cNvPr id="6" name="Text 3"/>
          <p:cNvSpPr txBox="1"/>
          <p:nvPr/>
        </p:nvSpPr>
        <p:spPr>
          <a:xfrm>
            <a:off x="731520" y="5440680"/>
            <a:ext cx="6400800" cy="777240"/>
          </a:xfrm>
          <a:prstGeom prst="rect">
            <a:avLst/>
          </a:prstGeom>
          <a:noFill/>
          <a:ln/>
        </p:spPr>
        <p:txBody>
          <a:bodyPr wrap="square" lIns="0" tIns="0" rIns="0" bIns="0" rtlCol="0" anchor="ctr"/>
          <a:lstStyle/>
          <a:p>
            <a:pPr indent="0" marL="0">
              <a:buNone/>
            </a:pPr>
            <a:r>
              <a:rPr lang="en-US" sz="1600" b="1" dirty="0">
                <a:solidFill>
                  <a:schemeClr val="accent3"/>
                </a:solidFill>
              </a:rPr>
              <a:t>70.2% churn</a:t>
            </a:r>
            <a:pPr indent="0" marL="0">
              <a:buNone/>
            </a:pPr>
            <a:r>
              <a:rPr lang="en-US" sz="1600" dirty="0">
                <a:solidFill>
                  <a:schemeClr val="tx1"/>
                </a:solidFill>
              </a:rPr>
              <a:t>: month-to-month + fiber + first year (916 customers, USD 75k a month)</a:t>
            </a:r>
            <a:endParaRPr lang="en-US" sz="1600" dirty="0"/>
          </a:p>
        </p:txBody>
      </p:sp>
      <p:sp>
        <p:nvSpPr>
          <p:cNvPr id="7" name="Fact 1"/>
          <p:cNvSpPr/>
          <p:nvPr/>
        </p:nvSpPr>
        <p:spPr>
          <a:xfrm>
            <a:off x="7772400" y="1691640"/>
            <a:ext cx="3840480" cy="1371600"/>
          </a:xfrm>
          <a:prstGeom prst="rect">
            <a:avLst/>
          </a:prstGeom>
          <a:solidFill>
            <a:schemeClr val="bg2"/>
          </a:solidFill>
          <a:ln w="12700">
            <a:solidFill>
              <a:schemeClr val="bg2"/>
            </a:solidFill>
            <a:prstDash val="solid"/>
          </a:ln>
        </p:spPr>
      </p:sp>
      <p:sp>
        <p:nvSpPr>
          <p:cNvPr id="8" name="Text 5"/>
          <p:cNvSpPr txBox="1"/>
          <p:nvPr/>
        </p:nvSpPr>
        <p:spPr>
          <a:xfrm>
            <a:off x="7955280" y="1783080"/>
            <a:ext cx="1737360" cy="1188720"/>
          </a:xfrm>
          <a:prstGeom prst="rect">
            <a:avLst/>
          </a:prstGeom>
          <a:noFill/>
          <a:ln/>
        </p:spPr>
        <p:txBody>
          <a:bodyPr wrap="square" lIns="0" tIns="0" rIns="0" bIns="0" rtlCol="0" anchor="ctr"/>
          <a:lstStyle/>
          <a:p>
            <a:pPr indent="0" marL="0">
              <a:buNone/>
            </a:pPr>
            <a:r>
              <a:rPr lang="en-US" sz="3200" b="1" dirty="0">
                <a:solidFill>
                  <a:schemeClr val="tx2"/>
                </a:solidFill>
              </a:rPr>
              <a:t>41.9%</a:t>
            </a:r>
            <a:endParaRPr lang="en-US" sz="3200" dirty="0"/>
          </a:p>
        </p:txBody>
      </p:sp>
      <p:sp>
        <p:nvSpPr>
          <p:cNvPr id="9" name="Text 6"/>
          <p:cNvSpPr txBox="1"/>
          <p:nvPr/>
        </p:nvSpPr>
        <p:spPr>
          <a:xfrm>
            <a:off x="9646920" y="1783080"/>
            <a:ext cx="1828800" cy="1188720"/>
          </a:xfrm>
          <a:prstGeom prst="rect">
            <a:avLst/>
          </a:prstGeom>
          <a:noFill/>
          <a:ln/>
        </p:spPr>
        <p:txBody>
          <a:bodyPr wrap="square" lIns="0" tIns="0" rIns="0" bIns="0" rtlCol="0" anchor="ctr"/>
          <a:lstStyle/>
          <a:p>
            <a:pPr indent="0" marL="0">
              <a:buNone/>
            </a:pPr>
            <a:r>
              <a:rPr lang="en-US" sz="1400" dirty="0">
                <a:solidFill>
                  <a:schemeClr val="tx1"/>
                </a:solidFill>
              </a:rPr>
              <a:t>fiber optic churn, against 19.0% for DSL</a:t>
            </a:r>
            <a:endParaRPr lang="en-US" sz="1400" dirty="0"/>
          </a:p>
        </p:txBody>
      </p:sp>
      <p:sp>
        <p:nvSpPr>
          <p:cNvPr id="10" name="Fact 2"/>
          <p:cNvSpPr/>
          <p:nvPr/>
        </p:nvSpPr>
        <p:spPr>
          <a:xfrm>
            <a:off x="7772400" y="3200400"/>
            <a:ext cx="3840480" cy="1371600"/>
          </a:xfrm>
          <a:prstGeom prst="rect">
            <a:avLst/>
          </a:prstGeom>
          <a:solidFill>
            <a:schemeClr val="bg2"/>
          </a:solidFill>
          <a:ln w="12700">
            <a:solidFill>
              <a:schemeClr val="bg2"/>
            </a:solidFill>
            <a:prstDash val="solid"/>
          </a:ln>
        </p:spPr>
      </p:sp>
      <p:sp>
        <p:nvSpPr>
          <p:cNvPr id="11" name="Text 8"/>
          <p:cNvSpPr txBox="1"/>
          <p:nvPr/>
        </p:nvSpPr>
        <p:spPr>
          <a:xfrm>
            <a:off x="7955280" y="3291840"/>
            <a:ext cx="1737360" cy="1188720"/>
          </a:xfrm>
          <a:prstGeom prst="rect">
            <a:avLst/>
          </a:prstGeom>
          <a:noFill/>
          <a:ln/>
        </p:spPr>
        <p:txBody>
          <a:bodyPr wrap="square" lIns="0" tIns="0" rIns="0" bIns="0" rtlCol="0" anchor="ctr"/>
          <a:lstStyle/>
          <a:p>
            <a:pPr indent="0" marL="0">
              <a:buNone/>
            </a:pPr>
            <a:r>
              <a:rPr lang="en-US" sz="3200" b="1" dirty="0">
                <a:solidFill>
                  <a:schemeClr val="tx2"/>
                </a:solidFill>
              </a:rPr>
              <a:t>45.3%</a:t>
            </a:r>
            <a:endParaRPr lang="en-US" sz="3200" dirty="0"/>
          </a:p>
        </p:txBody>
      </p:sp>
      <p:sp>
        <p:nvSpPr>
          <p:cNvPr id="12" name="Text 9"/>
          <p:cNvSpPr txBox="1"/>
          <p:nvPr/>
        </p:nvSpPr>
        <p:spPr>
          <a:xfrm>
            <a:off x="9646920" y="3291840"/>
            <a:ext cx="1828800" cy="1188720"/>
          </a:xfrm>
          <a:prstGeom prst="rect">
            <a:avLst/>
          </a:prstGeom>
          <a:noFill/>
          <a:ln/>
        </p:spPr>
        <p:txBody>
          <a:bodyPr wrap="square" lIns="0" tIns="0" rIns="0" bIns="0" rtlCol="0" anchor="ctr"/>
          <a:lstStyle/>
          <a:p>
            <a:pPr indent="0" marL="0">
              <a:buNone/>
            </a:pPr>
            <a:r>
              <a:rPr lang="en-US" sz="1400" dirty="0">
                <a:solidFill>
                  <a:schemeClr val="tx1"/>
                </a:solidFill>
              </a:rPr>
              <a:t>electronic-check payers, against 15-19% for other methods</a:t>
            </a:r>
            <a:endParaRPr lang="en-US" sz="1400" dirty="0"/>
          </a:p>
        </p:txBody>
      </p:sp>
      <p:sp>
        <p:nvSpPr>
          <p:cNvPr id="13" name="Fact 3"/>
          <p:cNvSpPr/>
          <p:nvPr/>
        </p:nvSpPr>
        <p:spPr>
          <a:xfrm>
            <a:off x="7772400" y="4709160"/>
            <a:ext cx="3840480" cy="1371600"/>
          </a:xfrm>
          <a:prstGeom prst="rect">
            <a:avLst/>
          </a:prstGeom>
          <a:solidFill>
            <a:schemeClr val="bg2"/>
          </a:solidFill>
          <a:ln w="12700">
            <a:solidFill>
              <a:schemeClr val="bg2"/>
            </a:solidFill>
            <a:prstDash val="solid"/>
          </a:ln>
        </p:spPr>
      </p:sp>
      <p:sp>
        <p:nvSpPr>
          <p:cNvPr id="14" name="Text 11"/>
          <p:cNvSpPr txBox="1"/>
          <p:nvPr/>
        </p:nvSpPr>
        <p:spPr>
          <a:xfrm>
            <a:off x="7955280" y="4800600"/>
            <a:ext cx="1737360" cy="1188720"/>
          </a:xfrm>
          <a:prstGeom prst="rect">
            <a:avLst/>
          </a:prstGeom>
          <a:noFill/>
          <a:ln/>
        </p:spPr>
        <p:txBody>
          <a:bodyPr wrap="square" lIns="0" tIns="0" rIns="0" bIns="0" rtlCol="0" anchor="ctr"/>
          <a:lstStyle/>
          <a:p>
            <a:pPr indent="0" marL="0">
              <a:buNone/>
            </a:pPr>
            <a:r>
              <a:rPr lang="en-US" sz="3200" b="1" dirty="0">
                <a:solidFill>
                  <a:schemeClr val="tx2"/>
                </a:solidFill>
              </a:rPr>
              <a:t>9.0%</a:t>
            </a:r>
            <a:endParaRPr lang="en-US" sz="3200" dirty="0"/>
          </a:p>
        </p:txBody>
      </p:sp>
      <p:sp>
        <p:nvSpPr>
          <p:cNvPr id="15" name="Text 12"/>
          <p:cNvSpPr txBox="1"/>
          <p:nvPr/>
        </p:nvSpPr>
        <p:spPr>
          <a:xfrm>
            <a:off x="9646920" y="4800600"/>
            <a:ext cx="1828800" cy="1188720"/>
          </a:xfrm>
          <a:prstGeom prst="rect">
            <a:avLst/>
          </a:prstGeom>
          <a:noFill/>
          <a:ln/>
        </p:spPr>
        <p:txBody>
          <a:bodyPr wrap="square" lIns="0" tIns="0" rIns="0" bIns="0" rtlCol="0" anchor="ctr"/>
          <a:lstStyle/>
          <a:p>
            <a:pPr indent="0" marL="0">
              <a:buNone/>
            </a:pPr>
            <a:r>
              <a:rPr lang="en-US" sz="1400" dirty="0">
                <a:solidFill>
                  <a:schemeClr val="tx1"/>
                </a:solidFill>
              </a:rPr>
              <a:t>with Online Security and Tech Support, against 49.0% with neither</a:t>
            </a:r>
            <a:endParaRPr lang="en-US" sz="1400" dirty="0"/>
          </a:p>
        </p:txBody>
      </p:sp>
      <p:sp>
        <p:nvSpPr>
          <p:cNvPr id="16" name="Text 13"/>
          <p:cNvSpPr txBox="1"/>
          <p:nvPr/>
        </p:nvSpPr>
        <p:spPr>
          <a:xfrm>
            <a:off x="7772400" y="6172200"/>
            <a:ext cx="3840480" cy="182880"/>
          </a:xfrm>
          <a:prstGeom prst="rect">
            <a:avLst/>
          </a:prstGeom>
          <a:noFill/>
          <a:ln/>
        </p:spPr>
        <p:txBody>
          <a:bodyPr wrap="square" lIns="0" tIns="0" rIns="0" bIns="0" rtlCol="0" anchor="ctr"/>
          <a:lstStyle/>
          <a:p>
            <a:pPr indent="0" marL="0">
              <a:buNone/>
            </a:pPr>
            <a:r>
              <a:rPr lang="en-US" sz="1000" dirty="0">
                <a:solidFill>
                  <a:srgbClr val="5B6575"/>
                </a:solidFill>
              </a:rPr>
              <a:t>Add-on comparison covers internet customers only.</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The model ranks risk and explains it</a:t>
            </a:r>
            <a:endParaRPr lang="en-US" sz="3600" dirty="0"/>
          </a:p>
        </p:txBody>
      </p:sp>
      <p:sp>
        <p:nvSpPr>
          <p:cNvPr id="3" name="Metric 1"/>
          <p:cNvSpPr/>
          <p:nvPr/>
        </p:nvSpPr>
        <p:spPr>
          <a:xfrm>
            <a:off x="548640" y="1691640"/>
            <a:ext cx="4206240" cy="1371600"/>
          </a:xfrm>
          <a:prstGeom prst="rect">
            <a:avLst/>
          </a:prstGeom>
          <a:solidFill>
            <a:schemeClr val="bg2"/>
          </a:solidFill>
          <a:ln w="12700">
            <a:solidFill>
              <a:schemeClr val="bg2"/>
            </a:solidFill>
            <a:prstDash val="solid"/>
          </a:ln>
        </p:spPr>
      </p:sp>
      <p:sp>
        <p:nvSpPr>
          <p:cNvPr id="4" name="Text 2"/>
          <p:cNvSpPr txBox="1"/>
          <p:nvPr/>
        </p:nvSpPr>
        <p:spPr>
          <a:xfrm>
            <a:off x="731520" y="1783080"/>
            <a:ext cx="1645920" cy="1188720"/>
          </a:xfrm>
          <a:prstGeom prst="rect">
            <a:avLst/>
          </a:prstGeom>
          <a:noFill/>
          <a:ln/>
        </p:spPr>
        <p:txBody>
          <a:bodyPr wrap="square" lIns="0" tIns="0" rIns="0" bIns="0" rtlCol="0" anchor="ctr"/>
          <a:lstStyle/>
          <a:p>
            <a:pPr indent="0" marL="0">
              <a:buNone/>
            </a:pPr>
            <a:r>
              <a:rPr lang="en-US" sz="3600" b="1" dirty="0">
                <a:solidFill>
                  <a:schemeClr val="tx2"/>
                </a:solidFill>
              </a:rPr>
              <a:t>0.845</a:t>
            </a:r>
            <a:endParaRPr lang="en-US" sz="3600" dirty="0"/>
          </a:p>
        </p:txBody>
      </p:sp>
      <p:sp>
        <p:nvSpPr>
          <p:cNvPr id="5" name="Text 3"/>
          <p:cNvSpPr txBox="1"/>
          <p:nvPr/>
        </p:nvSpPr>
        <p:spPr>
          <a:xfrm>
            <a:off x="2423160" y="1783080"/>
            <a:ext cx="2194560" cy="1188720"/>
          </a:xfrm>
          <a:prstGeom prst="rect">
            <a:avLst/>
          </a:prstGeom>
          <a:noFill/>
          <a:ln/>
        </p:spPr>
        <p:txBody>
          <a:bodyPr wrap="square" lIns="0" tIns="0" rIns="0" bIns="0" rtlCol="0" anchor="ctr"/>
          <a:lstStyle/>
          <a:p>
            <a:pPr indent="0" marL="0">
              <a:buNone/>
            </a:pPr>
            <a:r>
              <a:rPr lang="en-US" sz="1400" dirty="0">
                <a:solidFill>
                  <a:schemeClr val="tx1"/>
                </a:solidFill>
              </a:rPr>
              <a:t>ROC-AUC on 1,761 held-out customers</a:t>
            </a:r>
            <a:endParaRPr lang="en-US" sz="1400" dirty="0"/>
          </a:p>
        </p:txBody>
      </p:sp>
      <p:sp>
        <p:nvSpPr>
          <p:cNvPr id="6" name="Metric 2"/>
          <p:cNvSpPr/>
          <p:nvPr/>
        </p:nvSpPr>
        <p:spPr>
          <a:xfrm>
            <a:off x="548640" y="3200400"/>
            <a:ext cx="4206240" cy="1371600"/>
          </a:xfrm>
          <a:prstGeom prst="rect">
            <a:avLst/>
          </a:prstGeom>
          <a:solidFill>
            <a:schemeClr val="bg2"/>
          </a:solidFill>
          <a:ln w="12700">
            <a:solidFill>
              <a:schemeClr val="bg2"/>
            </a:solidFill>
            <a:prstDash val="solid"/>
          </a:ln>
        </p:spPr>
      </p:sp>
      <p:sp>
        <p:nvSpPr>
          <p:cNvPr id="7" name="Text 5"/>
          <p:cNvSpPr txBox="1"/>
          <p:nvPr/>
        </p:nvSpPr>
        <p:spPr>
          <a:xfrm>
            <a:off x="731520" y="3291840"/>
            <a:ext cx="1645920" cy="1188720"/>
          </a:xfrm>
          <a:prstGeom prst="rect">
            <a:avLst/>
          </a:prstGeom>
          <a:noFill/>
          <a:ln/>
        </p:spPr>
        <p:txBody>
          <a:bodyPr wrap="square" lIns="0" tIns="0" rIns="0" bIns="0" rtlCol="0" anchor="ctr"/>
          <a:lstStyle/>
          <a:p>
            <a:pPr indent="0" marL="0">
              <a:buNone/>
            </a:pPr>
            <a:r>
              <a:rPr lang="en-US" sz="3600" b="1" dirty="0">
                <a:solidFill>
                  <a:schemeClr val="tx2"/>
                </a:solidFill>
              </a:rPr>
              <a:t>2.8x</a:t>
            </a:r>
            <a:endParaRPr lang="en-US" sz="3600" dirty="0"/>
          </a:p>
        </p:txBody>
      </p:sp>
      <p:sp>
        <p:nvSpPr>
          <p:cNvPr id="8" name="Text 6"/>
          <p:cNvSpPr txBox="1"/>
          <p:nvPr/>
        </p:nvSpPr>
        <p:spPr>
          <a:xfrm>
            <a:off x="2423160" y="3291840"/>
            <a:ext cx="2194560" cy="1188720"/>
          </a:xfrm>
          <a:prstGeom prst="rect">
            <a:avLst/>
          </a:prstGeom>
          <a:noFill/>
          <a:ln/>
        </p:spPr>
        <p:txBody>
          <a:bodyPr wrap="square" lIns="0" tIns="0" rIns="0" bIns="0" rtlCol="0" anchor="ctr"/>
          <a:lstStyle/>
          <a:p>
            <a:pPr indent="0" marL="0">
              <a:buNone/>
            </a:pPr>
            <a:r>
              <a:rPr lang="en-US" sz="1400" dirty="0">
                <a:solidFill>
                  <a:schemeClr val="tx1"/>
                </a:solidFill>
              </a:rPr>
              <a:t>lift: customers in the top 10% of scores churn 2.8 times as often as average</a:t>
            </a:r>
            <a:endParaRPr lang="en-US" sz="1400" dirty="0"/>
          </a:p>
        </p:txBody>
      </p:sp>
      <p:sp>
        <p:nvSpPr>
          <p:cNvPr id="9" name="Metric 3"/>
          <p:cNvSpPr/>
          <p:nvPr/>
        </p:nvSpPr>
        <p:spPr>
          <a:xfrm>
            <a:off x="548640" y="4709160"/>
            <a:ext cx="4206240" cy="1371600"/>
          </a:xfrm>
          <a:prstGeom prst="rect">
            <a:avLst/>
          </a:prstGeom>
          <a:solidFill>
            <a:schemeClr val="bg2"/>
          </a:solidFill>
          <a:ln w="12700">
            <a:solidFill>
              <a:schemeClr val="bg2"/>
            </a:solidFill>
            <a:prstDash val="solid"/>
          </a:ln>
        </p:spPr>
      </p:sp>
      <p:sp>
        <p:nvSpPr>
          <p:cNvPr id="10" name="Text 8"/>
          <p:cNvSpPr txBox="1"/>
          <p:nvPr/>
        </p:nvSpPr>
        <p:spPr>
          <a:xfrm>
            <a:off x="731520" y="4800600"/>
            <a:ext cx="1645920" cy="1188720"/>
          </a:xfrm>
          <a:prstGeom prst="rect">
            <a:avLst/>
          </a:prstGeom>
          <a:noFill/>
          <a:ln/>
        </p:spPr>
        <p:txBody>
          <a:bodyPr wrap="square" lIns="0" tIns="0" rIns="0" bIns="0" rtlCol="0" anchor="ctr"/>
          <a:lstStyle/>
          <a:p>
            <a:pPr indent="0" marL="0">
              <a:buNone/>
            </a:pPr>
            <a:r>
              <a:rPr lang="en-US" sz="3600" b="1" dirty="0">
                <a:solidFill>
                  <a:srgbClr val="5B6575"/>
                </a:solidFill>
              </a:rPr>
              <a:t>0.844</a:t>
            </a:r>
            <a:endParaRPr lang="en-US" sz="3600" dirty="0"/>
          </a:p>
        </p:txBody>
      </p:sp>
      <p:sp>
        <p:nvSpPr>
          <p:cNvPr id="11" name="Text 9"/>
          <p:cNvSpPr txBox="1"/>
          <p:nvPr/>
        </p:nvSpPr>
        <p:spPr>
          <a:xfrm>
            <a:off x="2423160" y="4800600"/>
            <a:ext cx="2194560" cy="1188720"/>
          </a:xfrm>
          <a:prstGeom prst="rect">
            <a:avLst/>
          </a:prstGeom>
          <a:noFill/>
          <a:ln/>
        </p:spPr>
        <p:txBody>
          <a:bodyPr wrap="square" lIns="0" tIns="0" rIns="0" bIns="0" rtlCol="0" anchor="ctr"/>
          <a:lstStyle/>
          <a:p>
            <a:pPr indent="0" marL="0">
              <a:buNone/>
            </a:pPr>
            <a:r>
              <a:rPr lang="en-US" sz="1400" dirty="0">
                <a:solidFill>
                  <a:schemeClr val="tx1"/>
                </a:solidFill>
              </a:rPr>
              <a:t>gradient boosting challenger: no better, so we keep the explainable model</a:t>
            </a:r>
            <a:endParaRPr lang="en-US" sz="1400" dirty="0"/>
          </a:p>
        </p:txBody>
      </p:sp>
      <p:graphicFrame>
        <p:nvGraphicFramePr>
          <p:cNvPr id="12" name="Driver chart" descr=""/>
          <p:cNvGraphicFramePr/>
          <p:nvPr/>
        </p:nvGraphicFramePr>
        <p:xfrm>
          <a:off x="5120640" y="1691640"/>
          <a:ext cx="6492240" cy="429768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120640" y="5989320"/>
            <a:ext cx="6492240" cy="274320"/>
          </a:xfrm>
          <a:prstGeom prst="rect">
            <a:avLst/>
          </a:prstGeom>
          <a:noFill/>
          <a:ln/>
        </p:spPr>
        <p:txBody>
          <a:bodyPr wrap="square" lIns="0" tIns="0" rIns="0" bIns="0" rtlCol="0" anchor="ctr"/>
          <a:lstStyle/>
          <a:p>
            <a:pPr indent="0" marL="0">
              <a:buNone/>
            </a:pPr>
            <a:r>
              <a:rPr lang="en-US" sz="1200" dirty="0">
                <a:solidFill>
                  <a:srgbClr val="5B6575"/>
                </a:solidFill>
              </a:rPr>
              <a:t>What drives churn risk (log-odds; red raises risk, green lowers it)</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Risk tiers match what really happened</a:t>
            </a:r>
            <a:endParaRPr lang="en-US" sz="3600" dirty="0"/>
          </a:p>
        </p:txBody>
      </p:sp>
      <p:graphicFrame>
        <p:nvGraphicFramePr>
          <p:cNvPr id="3" name="Tier chart" descr=""/>
          <p:cNvGraphicFramePr/>
          <p:nvPr/>
        </p:nvGraphicFramePr>
        <p:xfrm>
          <a:off x="548640" y="169164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89320"/>
            <a:ext cx="6583680" cy="274320"/>
          </a:xfrm>
          <a:prstGeom prst="rect">
            <a:avLst/>
          </a:prstGeom>
          <a:noFill/>
          <a:ln/>
        </p:spPr>
        <p:txBody>
          <a:bodyPr wrap="square" lIns="0" tIns="0" rIns="0" bIns="0" rtlCol="0" anchor="ctr"/>
          <a:lstStyle/>
          <a:p>
            <a:pPr indent="0" marL="0">
              <a:buNone/>
            </a:pPr>
            <a:r>
              <a:rPr lang="en-US" sz="1200" dirty="0">
                <a:solidFill>
                  <a:srgbClr val="5B6575"/>
                </a:solidFill>
              </a:rPr>
              <a:t>Actual churn rate by model risk tier (scores are out-of-fold)</a:t>
            </a:r>
            <a:endParaRPr lang="en-US" sz="1200" dirty="0"/>
          </a:p>
        </p:txBody>
      </p:sp>
      <p:sp>
        <p:nvSpPr>
          <p:cNvPr id="5" name="Tier stat 1"/>
          <p:cNvSpPr/>
          <p:nvPr/>
        </p:nvSpPr>
        <p:spPr>
          <a:xfrm>
            <a:off x="7589520" y="1691640"/>
            <a:ext cx="4023360" cy="1371600"/>
          </a:xfrm>
          <a:prstGeom prst="rect">
            <a:avLst/>
          </a:prstGeom>
          <a:solidFill>
            <a:schemeClr val="bg2"/>
          </a:solidFill>
          <a:ln w="12700">
            <a:solidFill>
              <a:schemeClr val="bg2"/>
            </a:solidFill>
            <a:prstDash val="solid"/>
          </a:ln>
        </p:spPr>
      </p:sp>
      <p:sp>
        <p:nvSpPr>
          <p:cNvPr id="6" name="Text 3"/>
          <p:cNvSpPr txBox="1"/>
          <p:nvPr/>
        </p:nvSpPr>
        <p:spPr>
          <a:xfrm>
            <a:off x="7772400" y="1783080"/>
            <a:ext cx="1737360" cy="1188720"/>
          </a:xfrm>
          <a:prstGeom prst="rect">
            <a:avLst/>
          </a:prstGeom>
          <a:noFill/>
          <a:ln/>
        </p:spPr>
        <p:txBody>
          <a:bodyPr wrap="square" lIns="0" tIns="0" rIns="0" bIns="0" rtlCol="0" anchor="ctr"/>
          <a:lstStyle/>
          <a:p>
            <a:pPr indent="0" marL="0">
              <a:buNone/>
            </a:pPr>
            <a:r>
              <a:rPr lang="en-US" sz="3600" b="1" dirty="0">
                <a:solidFill>
                  <a:schemeClr val="accent3"/>
                </a:solidFill>
              </a:rPr>
              <a:t>22.0%</a:t>
            </a:r>
            <a:endParaRPr lang="en-US" sz="3600" dirty="0"/>
          </a:p>
        </p:txBody>
      </p:sp>
      <p:sp>
        <p:nvSpPr>
          <p:cNvPr id="7" name="Text 4"/>
          <p:cNvSpPr txBox="1"/>
          <p:nvPr/>
        </p:nvSpPr>
        <p:spPr>
          <a:xfrm>
            <a:off x="9555480" y="1783080"/>
            <a:ext cx="1920240" cy="1188720"/>
          </a:xfrm>
          <a:prstGeom prst="rect">
            <a:avLst/>
          </a:prstGeom>
          <a:noFill/>
          <a:ln/>
        </p:spPr>
        <p:txBody>
          <a:bodyPr wrap="square" lIns="0" tIns="0" rIns="0" bIns="0" rtlCol="0" anchor="ctr"/>
          <a:lstStyle/>
          <a:p>
            <a:pPr indent="0" marL="0">
              <a:buNone/>
            </a:pPr>
            <a:r>
              <a:rPr lang="en-US" sz="1400" dirty="0">
                <a:solidFill>
                  <a:schemeClr val="tx1"/>
                </a:solidFill>
              </a:rPr>
              <a:t>of customers flagged High or Critical (1,552)</a:t>
            </a:r>
            <a:endParaRPr lang="en-US" sz="1400" dirty="0"/>
          </a:p>
        </p:txBody>
      </p:sp>
      <p:sp>
        <p:nvSpPr>
          <p:cNvPr id="8" name="Tier stat 2"/>
          <p:cNvSpPr/>
          <p:nvPr/>
        </p:nvSpPr>
        <p:spPr>
          <a:xfrm>
            <a:off x="7589520" y="3200400"/>
            <a:ext cx="4023360" cy="1371600"/>
          </a:xfrm>
          <a:prstGeom prst="rect">
            <a:avLst/>
          </a:prstGeom>
          <a:solidFill>
            <a:schemeClr val="bg2"/>
          </a:solidFill>
          <a:ln w="12700">
            <a:solidFill>
              <a:schemeClr val="bg2"/>
            </a:solidFill>
            <a:prstDash val="solid"/>
          </a:ln>
        </p:spPr>
      </p:sp>
      <p:sp>
        <p:nvSpPr>
          <p:cNvPr id="9" name="Text 6"/>
          <p:cNvSpPr txBox="1"/>
          <p:nvPr/>
        </p:nvSpPr>
        <p:spPr>
          <a:xfrm>
            <a:off x="7772400" y="3291840"/>
            <a:ext cx="1737360" cy="1188720"/>
          </a:xfrm>
          <a:prstGeom prst="rect">
            <a:avLst/>
          </a:prstGeom>
          <a:noFill/>
          <a:ln/>
        </p:spPr>
        <p:txBody>
          <a:bodyPr wrap="square" lIns="0" tIns="0" rIns="0" bIns="0" rtlCol="0" anchor="ctr"/>
          <a:lstStyle/>
          <a:p>
            <a:pPr indent="0" marL="0">
              <a:buNone/>
            </a:pPr>
            <a:r>
              <a:rPr lang="en-US" sz="3600" b="1" dirty="0">
                <a:solidFill>
                  <a:schemeClr val="tx2"/>
                </a:solidFill>
              </a:rPr>
              <a:t>54.3%</a:t>
            </a:r>
            <a:endParaRPr lang="en-US" sz="3600" dirty="0"/>
          </a:p>
        </p:txBody>
      </p:sp>
      <p:sp>
        <p:nvSpPr>
          <p:cNvPr id="10" name="Text 7"/>
          <p:cNvSpPr txBox="1"/>
          <p:nvPr/>
        </p:nvSpPr>
        <p:spPr>
          <a:xfrm>
            <a:off x="9555480" y="3291840"/>
            <a:ext cx="1920240" cy="1188720"/>
          </a:xfrm>
          <a:prstGeom prst="rect">
            <a:avLst/>
          </a:prstGeom>
          <a:noFill/>
          <a:ln/>
        </p:spPr>
        <p:txBody>
          <a:bodyPr wrap="square" lIns="0" tIns="0" rIns="0" bIns="0" rtlCol="0" anchor="ctr"/>
          <a:lstStyle/>
          <a:p>
            <a:pPr indent="0" marL="0">
              <a:buNone/>
            </a:pPr>
            <a:r>
              <a:rPr lang="en-US" sz="1400" dirty="0">
                <a:solidFill>
                  <a:schemeClr val="tx1"/>
                </a:solidFill>
              </a:rPr>
              <a:t>of all churners captured in that group</a:t>
            </a:r>
            <a:endParaRPr lang="en-US" sz="1400" dirty="0"/>
          </a:p>
        </p:txBody>
      </p:sp>
      <p:sp>
        <p:nvSpPr>
          <p:cNvPr id="11" name="Tier stat 3"/>
          <p:cNvSpPr/>
          <p:nvPr/>
        </p:nvSpPr>
        <p:spPr>
          <a:xfrm>
            <a:off x="7589520" y="4709160"/>
            <a:ext cx="4023360" cy="1371600"/>
          </a:xfrm>
          <a:prstGeom prst="rect">
            <a:avLst/>
          </a:prstGeom>
          <a:solidFill>
            <a:schemeClr val="bg2"/>
          </a:solidFill>
          <a:ln w="12700">
            <a:solidFill>
              <a:schemeClr val="bg2"/>
            </a:solidFill>
            <a:prstDash val="solid"/>
          </a:ln>
        </p:spPr>
      </p:sp>
      <p:sp>
        <p:nvSpPr>
          <p:cNvPr id="12" name="Text 9"/>
          <p:cNvSpPr txBox="1"/>
          <p:nvPr/>
        </p:nvSpPr>
        <p:spPr>
          <a:xfrm>
            <a:off x="7772400" y="4800600"/>
            <a:ext cx="1737360" cy="1188720"/>
          </a:xfrm>
          <a:prstGeom prst="rect">
            <a:avLst/>
          </a:prstGeom>
          <a:noFill/>
          <a:ln/>
        </p:spPr>
        <p:txBody>
          <a:bodyPr wrap="square" lIns="0" tIns="0" rIns="0" bIns="0" rtlCol="0" anchor="ctr"/>
          <a:lstStyle/>
          <a:p>
            <a:pPr indent="0" marL="0">
              <a:buNone/>
            </a:pPr>
            <a:r>
              <a:rPr lang="en-US" sz="3600" b="1" dirty="0">
                <a:solidFill>
                  <a:schemeClr val="tx2"/>
                </a:solidFill>
              </a:rPr>
              <a:t>65.4%</a:t>
            </a:r>
            <a:endParaRPr lang="en-US" sz="3600" dirty="0"/>
          </a:p>
        </p:txBody>
      </p:sp>
      <p:sp>
        <p:nvSpPr>
          <p:cNvPr id="13" name="Text 10"/>
          <p:cNvSpPr txBox="1"/>
          <p:nvPr/>
        </p:nvSpPr>
        <p:spPr>
          <a:xfrm>
            <a:off x="9555480" y="4800600"/>
            <a:ext cx="1920240" cy="1188720"/>
          </a:xfrm>
          <a:prstGeom prst="rect">
            <a:avLst/>
          </a:prstGeom>
          <a:noFill/>
          <a:ln/>
        </p:spPr>
        <p:txBody>
          <a:bodyPr wrap="square" lIns="0" tIns="0" rIns="0" bIns="0" rtlCol="0" anchor="ctr"/>
          <a:lstStyle/>
          <a:p>
            <a:pPr indent="0" marL="0">
              <a:buNone/>
            </a:pPr>
            <a:r>
              <a:rPr lang="en-US" sz="1400" dirty="0">
                <a:solidFill>
                  <a:schemeClr val="tx1"/>
                </a:solidFill>
              </a:rPr>
              <a:t>of flagged customers really churned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A dashboard the retention team can act on</a:t>
            </a:r>
            <a:endParaRPr lang="en-US" sz="3600" dirty="0"/>
          </a:p>
        </p:txBody>
      </p:sp>
      <p:pic>
        <p:nvPicPr>
          <p:cNvPr id="3" name="Dashboard screenshot" descr="Dashboard overview tab with filters, KPI tiles and risk tier charts">    </p:cNvPr>
          <p:cNvPicPr>
            <a:picLocks noChangeAspect="1"/>
          </p:cNvPicPr>
          <p:nvPr/>
        </p:nvPicPr>
        <p:blipFill>
          <a:blip r:embed="rId1"/>
          <a:stretch>
            <a:fillRect/>
          </a:stretch>
        </p:blipFill>
        <p:spPr>
          <a:xfrm>
            <a:off x="548640" y="1691640"/>
            <a:ext cx="6949440" cy="3734410"/>
          </a:xfrm>
          <a:prstGeom prst="rect">
            <a:avLst/>
          </a:prstGeom>
        </p:spPr>
      </p:pic>
      <p:sp>
        <p:nvSpPr>
          <p:cNvPr id="4" name="Text 1"/>
          <p:cNvSpPr txBox="1"/>
          <p:nvPr/>
        </p:nvSpPr>
        <p:spPr>
          <a:xfrm>
            <a:off x="548640" y="5532120"/>
            <a:ext cx="6949440" cy="548640"/>
          </a:xfrm>
          <a:prstGeom prst="rect">
            <a:avLst/>
          </a:prstGeom>
          <a:noFill/>
          <a:ln/>
        </p:spPr>
        <p:txBody>
          <a:bodyPr wrap="square" lIns="0" tIns="0" rIns="0" bIns="0" rtlCol="0" anchor="t"/>
          <a:lstStyle/>
          <a:p>
            <a:pPr indent="0" marL="0">
              <a:buNone/>
            </a:pPr>
            <a:r>
              <a:rPr lang="en-US" sz="1400" dirty="0">
                <a:solidFill>
                  <a:srgbClr val="5B6575"/>
                </a:solidFill>
              </a:rPr>
              <a:t>Overview tab: KPI tiles and risk-tier charts for the 5,174 active customers</a:t>
            </a:r>
            <a:endParaRPr lang="en-US" sz="1400" dirty="0"/>
          </a:p>
        </p:txBody>
      </p:sp>
      <p:sp>
        <p:nvSpPr>
          <p:cNvPr id="5" name="Icon Overview circle"/>
          <p:cNvSpPr/>
          <p:nvPr/>
        </p:nvSpPr>
        <p:spPr>
          <a:xfrm>
            <a:off x="7772400" y="1783080"/>
            <a:ext cx="685800" cy="685800"/>
          </a:xfrm>
          <a:prstGeom prst="ellipse">
            <a:avLst/>
          </a:prstGeom>
          <a:solidFill>
            <a:srgbClr val="12355B"/>
          </a:solidFill>
          <a:ln w="12700">
            <a:solidFill>
              <a:srgbClr val="12355B"/>
            </a:solidFill>
            <a:prstDash val="solid"/>
          </a:ln>
        </p:spPr>
      </p:sp>
      <p:pic>
        <p:nvPicPr>
          <p:cNvPr id="6" name="Icon Overview" descr="Icon Overview">    </p:cNvPr>
          <p:cNvPicPr>
            <a:picLocks noChangeAspect="1"/>
          </p:cNvPicPr>
          <p:nvPr/>
        </p:nvPicPr>
        <p:blipFill>
          <a:blip r:embed="rId2"/>
          <a:stretch>
            <a:fillRect/>
          </a:stretch>
        </p:blipFill>
        <p:spPr>
          <a:xfrm>
            <a:off x="7950708" y="1961388"/>
            <a:ext cx="329184" cy="329184"/>
          </a:xfrm>
          <a:prstGeom prst="rect">
            <a:avLst/>
          </a:prstGeom>
        </p:spPr>
      </p:pic>
      <p:sp>
        <p:nvSpPr>
          <p:cNvPr id="7" name="Text 3"/>
          <p:cNvSpPr txBox="1"/>
          <p:nvPr/>
        </p:nvSpPr>
        <p:spPr>
          <a:xfrm>
            <a:off x="8686800" y="1691640"/>
            <a:ext cx="2926080" cy="411480"/>
          </a:xfrm>
          <a:prstGeom prst="rect">
            <a:avLst/>
          </a:prstGeom>
          <a:noFill/>
          <a:ln/>
        </p:spPr>
        <p:txBody>
          <a:bodyPr wrap="square" lIns="0" tIns="0" rIns="0" bIns="0" rtlCol="0" anchor="t"/>
          <a:lstStyle/>
          <a:p>
            <a:pPr indent="0" marL="0">
              <a:buNone/>
            </a:pPr>
            <a:r>
              <a:rPr lang="en-US" sz="2000" b="1" dirty="0">
                <a:solidFill>
                  <a:schemeClr val="tx2"/>
                </a:solidFill>
              </a:rPr>
              <a:t>Overview</a:t>
            </a:r>
            <a:endParaRPr lang="en-US" sz="2000" dirty="0"/>
          </a:p>
        </p:txBody>
      </p:sp>
      <p:sp>
        <p:nvSpPr>
          <p:cNvPr id="8" name="Text 4"/>
          <p:cNvSpPr txBox="1"/>
          <p:nvPr/>
        </p:nvSpPr>
        <p:spPr>
          <a:xfrm>
            <a:off x="8686800" y="2148840"/>
            <a:ext cx="2926080" cy="640080"/>
          </a:xfrm>
          <a:prstGeom prst="rect">
            <a:avLst/>
          </a:prstGeom>
          <a:noFill/>
          <a:ln/>
        </p:spPr>
        <p:txBody>
          <a:bodyPr wrap="square" lIns="0" tIns="0" rIns="0" bIns="0" rtlCol="0" anchor="t"/>
          <a:lstStyle/>
          <a:p>
            <a:pPr indent="0" marL="0">
              <a:buNone/>
            </a:pPr>
            <a:r>
              <a:rPr lang="en-US" sz="1400" dirty="0">
                <a:solidFill>
                  <a:schemeClr val="tx1"/>
                </a:solidFill>
              </a:rPr>
              <a:t>KPIs, risk tiers, highest-risk segments</a:t>
            </a:r>
            <a:endParaRPr lang="en-US" sz="1400" dirty="0"/>
          </a:p>
        </p:txBody>
      </p:sp>
      <p:sp>
        <p:nvSpPr>
          <p:cNvPr id="9" name="Icon Call list circle"/>
          <p:cNvSpPr/>
          <p:nvPr/>
        </p:nvSpPr>
        <p:spPr>
          <a:xfrm>
            <a:off x="7772400" y="2953512"/>
            <a:ext cx="685800" cy="685800"/>
          </a:xfrm>
          <a:prstGeom prst="ellipse">
            <a:avLst/>
          </a:prstGeom>
          <a:solidFill>
            <a:srgbClr val="12355B"/>
          </a:solidFill>
          <a:ln w="12700">
            <a:solidFill>
              <a:srgbClr val="12355B"/>
            </a:solidFill>
            <a:prstDash val="solid"/>
          </a:ln>
        </p:spPr>
      </p:sp>
      <p:pic>
        <p:nvPicPr>
          <p:cNvPr id="10" name="Icon Call list" descr="Icon Call list">    </p:cNvPr>
          <p:cNvPicPr>
            <a:picLocks noChangeAspect="1"/>
          </p:cNvPicPr>
          <p:nvPr/>
        </p:nvPicPr>
        <p:blipFill>
          <a:blip r:embed="rId3"/>
          <a:stretch>
            <a:fillRect/>
          </a:stretch>
        </p:blipFill>
        <p:spPr>
          <a:xfrm>
            <a:off x="7950708" y="3131820"/>
            <a:ext cx="329184" cy="329184"/>
          </a:xfrm>
          <a:prstGeom prst="rect">
            <a:avLst/>
          </a:prstGeom>
        </p:spPr>
      </p:pic>
      <p:sp>
        <p:nvSpPr>
          <p:cNvPr id="11" name="Text 6"/>
          <p:cNvSpPr txBox="1"/>
          <p:nvPr/>
        </p:nvSpPr>
        <p:spPr>
          <a:xfrm>
            <a:off x="8686800" y="2862072"/>
            <a:ext cx="2926080" cy="411480"/>
          </a:xfrm>
          <a:prstGeom prst="rect">
            <a:avLst/>
          </a:prstGeom>
          <a:noFill/>
          <a:ln/>
        </p:spPr>
        <p:txBody>
          <a:bodyPr wrap="square" lIns="0" tIns="0" rIns="0" bIns="0" rtlCol="0" anchor="t"/>
          <a:lstStyle/>
          <a:p>
            <a:pPr indent="0" marL="0">
              <a:buNone/>
            </a:pPr>
            <a:r>
              <a:rPr lang="en-US" sz="2000" b="1" dirty="0">
                <a:solidFill>
                  <a:schemeClr val="tx2"/>
                </a:solidFill>
              </a:rPr>
              <a:t>Call list</a:t>
            </a:r>
            <a:endParaRPr lang="en-US" sz="2000" dirty="0"/>
          </a:p>
        </p:txBody>
      </p:sp>
      <p:sp>
        <p:nvSpPr>
          <p:cNvPr id="12" name="Text 7"/>
          <p:cNvSpPr txBox="1"/>
          <p:nvPr/>
        </p:nvSpPr>
        <p:spPr>
          <a:xfrm>
            <a:off x="8686800" y="3319272"/>
            <a:ext cx="2926080" cy="640080"/>
          </a:xfrm>
          <a:prstGeom prst="rect">
            <a:avLst/>
          </a:prstGeom>
          <a:noFill/>
          <a:ln/>
        </p:spPr>
        <p:txBody>
          <a:bodyPr wrap="square" lIns="0" tIns="0" rIns="0" bIns="0" rtlCol="0" anchor="t"/>
          <a:lstStyle/>
          <a:p>
            <a:pPr indent="0" marL="0">
              <a:buNone/>
            </a:pPr>
            <a:r>
              <a:rPr lang="en-US" sz="1400" dirty="0">
                <a:solidFill>
                  <a:schemeClr val="tx1"/>
                </a:solidFill>
              </a:rPr>
              <a:t>Ranked by expected monthly loss, CSV export</a:t>
            </a:r>
            <a:endParaRPr lang="en-US" sz="1400" dirty="0"/>
          </a:p>
        </p:txBody>
      </p:sp>
      <p:sp>
        <p:nvSpPr>
          <p:cNvPr id="13" name="Icon Customer detail circle"/>
          <p:cNvSpPr/>
          <p:nvPr/>
        </p:nvSpPr>
        <p:spPr>
          <a:xfrm>
            <a:off x="7772400" y="4123944"/>
            <a:ext cx="685800" cy="685800"/>
          </a:xfrm>
          <a:prstGeom prst="ellipse">
            <a:avLst/>
          </a:prstGeom>
          <a:solidFill>
            <a:srgbClr val="E4572E"/>
          </a:solidFill>
          <a:ln w="12700">
            <a:solidFill>
              <a:srgbClr val="E4572E"/>
            </a:solidFill>
            <a:prstDash val="solid"/>
          </a:ln>
        </p:spPr>
      </p:sp>
      <p:pic>
        <p:nvPicPr>
          <p:cNvPr id="14" name="Icon Customer detail" descr="Icon Customer detail">    </p:cNvPr>
          <p:cNvPicPr>
            <a:picLocks noChangeAspect="1"/>
          </p:cNvPicPr>
          <p:nvPr/>
        </p:nvPicPr>
        <p:blipFill>
          <a:blip r:embed="rId4"/>
          <a:stretch>
            <a:fillRect/>
          </a:stretch>
        </p:blipFill>
        <p:spPr>
          <a:xfrm>
            <a:off x="7950708" y="4302252"/>
            <a:ext cx="329184" cy="329184"/>
          </a:xfrm>
          <a:prstGeom prst="rect">
            <a:avLst/>
          </a:prstGeom>
        </p:spPr>
      </p:pic>
      <p:sp>
        <p:nvSpPr>
          <p:cNvPr id="15" name="Text 9"/>
          <p:cNvSpPr txBox="1"/>
          <p:nvPr/>
        </p:nvSpPr>
        <p:spPr>
          <a:xfrm>
            <a:off x="8686800" y="4032504"/>
            <a:ext cx="2926080" cy="411480"/>
          </a:xfrm>
          <a:prstGeom prst="rect">
            <a:avLst/>
          </a:prstGeom>
          <a:noFill/>
          <a:ln/>
        </p:spPr>
        <p:txBody>
          <a:bodyPr wrap="square" lIns="0" tIns="0" rIns="0" bIns="0" rtlCol="0" anchor="t"/>
          <a:lstStyle/>
          <a:p>
            <a:pPr indent="0" marL="0">
              <a:buNone/>
            </a:pPr>
            <a:r>
              <a:rPr lang="en-US" sz="2000" b="1" dirty="0">
                <a:solidFill>
                  <a:schemeClr val="tx2"/>
                </a:solidFill>
              </a:rPr>
              <a:t>Customer detail</a:t>
            </a:r>
            <a:endParaRPr lang="en-US" sz="2000" dirty="0"/>
          </a:p>
        </p:txBody>
      </p:sp>
      <p:sp>
        <p:nvSpPr>
          <p:cNvPr id="16" name="Text 10"/>
          <p:cNvSpPr txBox="1"/>
          <p:nvPr/>
        </p:nvSpPr>
        <p:spPr>
          <a:xfrm>
            <a:off x="8686800" y="4489704"/>
            <a:ext cx="2926080" cy="640080"/>
          </a:xfrm>
          <a:prstGeom prst="rect">
            <a:avLst/>
          </a:prstGeom>
          <a:noFill/>
          <a:ln/>
        </p:spPr>
        <p:txBody>
          <a:bodyPr wrap="square" lIns="0" tIns="0" rIns="0" bIns="0" rtlCol="0" anchor="t"/>
          <a:lstStyle/>
          <a:p>
            <a:pPr indent="0" marL="0">
              <a:buNone/>
            </a:pPr>
            <a:r>
              <a:rPr lang="en-US" sz="1400" dirty="0">
                <a:solidFill>
                  <a:schemeClr val="tx1"/>
                </a:solidFill>
              </a:rPr>
              <a:t>Why flagged, plus a GenAI call script</a:t>
            </a:r>
            <a:endParaRPr lang="en-US" sz="1400" dirty="0"/>
          </a:p>
        </p:txBody>
      </p:sp>
      <p:sp>
        <p:nvSpPr>
          <p:cNvPr id="17" name="Icon ROI simulator circle"/>
          <p:cNvSpPr/>
          <p:nvPr/>
        </p:nvSpPr>
        <p:spPr>
          <a:xfrm>
            <a:off x="7772400" y="5294376"/>
            <a:ext cx="685800" cy="685800"/>
          </a:xfrm>
          <a:prstGeom prst="ellipse">
            <a:avLst/>
          </a:prstGeom>
          <a:solidFill>
            <a:srgbClr val="12355B"/>
          </a:solidFill>
          <a:ln w="12700">
            <a:solidFill>
              <a:srgbClr val="12355B"/>
            </a:solidFill>
            <a:prstDash val="solid"/>
          </a:ln>
        </p:spPr>
      </p:sp>
      <p:pic>
        <p:nvPicPr>
          <p:cNvPr id="18" name="Icon ROI simulator" descr="Icon ROI simulator">    </p:cNvPr>
          <p:cNvPicPr>
            <a:picLocks noChangeAspect="1"/>
          </p:cNvPicPr>
          <p:nvPr/>
        </p:nvPicPr>
        <p:blipFill>
          <a:blip r:embed="rId5"/>
          <a:stretch>
            <a:fillRect/>
          </a:stretch>
        </p:blipFill>
        <p:spPr>
          <a:xfrm>
            <a:off x="7950708" y="5472684"/>
            <a:ext cx="329184" cy="329184"/>
          </a:xfrm>
          <a:prstGeom prst="rect">
            <a:avLst/>
          </a:prstGeom>
        </p:spPr>
      </p:pic>
      <p:sp>
        <p:nvSpPr>
          <p:cNvPr id="19" name="Text 12"/>
          <p:cNvSpPr txBox="1"/>
          <p:nvPr/>
        </p:nvSpPr>
        <p:spPr>
          <a:xfrm>
            <a:off x="8686800" y="5202936"/>
            <a:ext cx="2926080" cy="411480"/>
          </a:xfrm>
          <a:prstGeom prst="rect">
            <a:avLst/>
          </a:prstGeom>
          <a:noFill/>
          <a:ln/>
        </p:spPr>
        <p:txBody>
          <a:bodyPr wrap="square" lIns="0" tIns="0" rIns="0" bIns="0" rtlCol="0" anchor="t"/>
          <a:lstStyle/>
          <a:p>
            <a:pPr indent="0" marL="0">
              <a:buNone/>
            </a:pPr>
            <a:r>
              <a:rPr lang="en-US" sz="2000" b="1" dirty="0">
                <a:solidFill>
                  <a:schemeClr val="tx2"/>
                </a:solidFill>
              </a:rPr>
              <a:t>ROI simulator</a:t>
            </a:r>
            <a:endParaRPr lang="en-US" sz="2000" dirty="0"/>
          </a:p>
        </p:txBody>
      </p:sp>
      <p:sp>
        <p:nvSpPr>
          <p:cNvPr id="20" name="Text 13"/>
          <p:cNvSpPr txBox="1"/>
          <p:nvPr/>
        </p:nvSpPr>
        <p:spPr>
          <a:xfrm>
            <a:off x="8686800" y="5660136"/>
            <a:ext cx="2926080" cy="640080"/>
          </a:xfrm>
          <a:prstGeom prst="rect">
            <a:avLst/>
          </a:prstGeom>
          <a:noFill/>
          <a:ln/>
        </p:spPr>
        <p:txBody>
          <a:bodyPr wrap="square" lIns="0" tIns="0" rIns="0" bIns="0" rtlCol="0" anchor="t"/>
          <a:lstStyle/>
          <a:p>
            <a:pPr indent="0" marL="0">
              <a:buNone/>
            </a:pPr>
            <a:r>
              <a:rPr lang="en-US" sz="1400" dirty="0">
                <a:solidFill>
                  <a:schemeClr val="tx1"/>
                </a:solidFill>
              </a:rPr>
              <a:t>Threshold, save rate and cost sliders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GenAI drafts the script, rules verify it</a:t>
            </a:r>
            <a:endParaRPr lang="en-US" sz="3600" dirty="0"/>
          </a:p>
        </p:txBody>
      </p:sp>
      <p:sp>
        <p:nvSpPr>
          <p:cNvPr id="3" name="Flow Approved facts and offers"/>
          <p:cNvSpPr/>
          <p:nvPr/>
        </p:nvSpPr>
        <p:spPr>
          <a:xfrm>
            <a:off x="548640" y="1691640"/>
            <a:ext cx="4754880" cy="960120"/>
          </a:xfrm>
          <a:prstGeom prst="rect">
            <a:avLst/>
          </a:prstGeom>
          <a:solidFill>
            <a:schemeClr val="bg2"/>
          </a:solidFill>
          <a:ln w="12700">
            <a:solidFill>
              <a:schemeClr val="bg2"/>
            </a:solidFill>
            <a:prstDash val="solid"/>
          </a:ln>
        </p:spPr>
      </p:sp>
      <p:sp>
        <p:nvSpPr>
          <p:cNvPr id="4" name="Flow number 1"/>
          <p:cNvSpPr/>
          <p:nvPr/>
        </p:nvSpPr>
        <p:spPr>
          <a:xfrm>
            <a:off x="731520" y="1874520"/>
            <a:ext cx="594360" cy="594360"/>
          </a:xfrm>
          <a:prstGeom prst="ellipse">
            <a:avLst/>
          </a:prstGeom>
          <a:solidFill>
            <a:srgbClr val="12355B"/>
          </a:solidFill>
          <a:ln w="12700">
            <a:solidFill>
              <a:srgbClr val="12355B"/>
            </a:solidFill>
            <a:prstDash val="solid"/>
          </a:ln>
        </p:spPr>
      </p:sp>
      <p:sp>
        <p:nvSpPr>
          <p:cNvPr id="5" name="Text 3"/>
          <p:cNvSpPr txBox="1"/>
          <p:nvPr/>
        </p:nvSpPr>
        <p:spPr>
          <a:xfrm>
            <a:off x="731520" y="1874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Text 4"/>
          <p:cNvSpPr txBox="1"/>
          <p:nvPr/>
        </p:nvSpPr>
        <p:spPr>
          <a:xfrm>
            <a:off x="1508760" y="1783080"/>
            <a:ext cx="3657600" cy="365760"/>
          </a:xfrm>
          <a:prstGeom prst="rect">
            <a:avLst/>
          </a:prstGeom>
          <a:noFill/>
          <a:ln/>
        </p:spPr>
        <p:txBody>
          <a:bodyPr wrap="square" lIns="0" tIns="0" rIns="0" bIns="0" rtlCol="0" anchor="t"/>
          <a:lstStyle/>
          <a:p>
            <a:pPr indent="0" marL="0">
              <a:buNone/>
            </a:pPr>
            <a:r>
              <a:rPr lang="en-US" sz="1800" b="1" dirty="0">
                <a:solidFill>
                  <a:schemeClr val="tx2"/>
                </a:solidFill>
              </a:rPr>
              <a:t>Approved facts and offers</a:t>
            </a:r>
            <a:endParaRPr lang="en-US" sz="1800" dirty="0"/>
          </a:p>
        </p:txBody>
      </p:sp>
      <p:sp>
        <p:nvSpPr>
          <p:cNvPr id="7" name="Text 5"/>
          <p:cNvSpPr txBox="1"/>
          <p:nvPr/>
        </p:nvSpPr>
        <p:spPr>
          <a:xfrm>
            <a:off x="1508760" y="2167128"/>
            <a:ext cx="3657600" cy="411480"/>
          </a:xfrm>
          <a:prstGeom prst="rect">
            <a:avLst/>
          </a:prstGeom>
          <a:noFill/>
          <a:ln/>
        </p:spPr>
        <p:txBody>
          <a:bodyPr wrap="square" lIns="0" tIns="0" rIns="0" bIns="0" rtlCol="0" anchor="t"/>
          <a:lstStyle/>
          <a:p>
            <a:pPr indent="0" marL="0">
              <a:buNone/>
            </a:pPr>
            <a:r>
              <a:rPr lang="en-US" sz="1400" dirty="0">
                <a:solidFill>
                  <a:schemeClr val="tx1"/>
                </a:solidFill>
              </a:rPr>
              <a:t>Tenure, contract, bill; offers chosen by rules</a:t>
            </a:r>
            <a:endParaRPr lang="en-US" sz="1400" dirty="0"/>
          </a:p>
        </p:txBody>
      </p:sp>
      <p:sp>
        <p:nvSpPr>
          <p:cNvPr id="8" name="Flow LLM or offline template"/>
          <p:cNvSpPr/>
          <p:nvPr/>
        </p:nvSpPr>
        <p:spPr>
          <a:xfrm>
            <a:off x="548640" y="2788920"/>
            <a:ext cx="4754880" cy="960120"/>
          </a:xfrm>
          <a:prstGeom prst="rect">
            <a:avLst/>
          </a:prstGeom>
          <a:solidFill>
            <a:schemeClr val="bg2"/>
          </a:solidFill>
          <a:ln w="12700">
            <a:solidFill>
              <a:schemeClr val="bg2"/>
            </a:solidFill>
            <a:prstDash val="solid"/>
          </a:ln>
        </p:spPr>
      </p:sp>
      <p:sp>
        <p:nvSpPr>
          <p:cNvPr id="9" name="Flow number 2"/>
          <p:cNvSpPr/>
          <p:nvPr/>
        </p:nvSpPr>
        <p:spPr>
          <a:xfrm>
            <a:off x="731520" y="2971800"/>
            <a:ext cx="594360" cy="594360"/>
          </a:xfrm>
          <a:prstGeom prst="ellipse">
            <a:avLst/>
          </a:prstGeom>
          <a:solidFill>
            <a:srgbClr val="12355B"/>
          </a:solidFill>
          <a:ln w="12700">
            <a:solidFill>
              <a:srgbClr val="12355B"/>
            </a:solidFill>
            <a:prstDash val="solid"/>
          </a:ln>
        </p:spPr>
      </p:sp>
      <p:sp>
        <p:nvSpPr>
          <p:cNvPr id="10" name="Text 8"/>
          <p:cNvSpPr txBox="1"/>
          <p:nvPr/>
        </p:nvSpPr>
        <p:spPr>
          <a:xfrm>
            <a:off x="731520" y="29718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Text 9"/>
          <p:cNvSpPr txBox="1"/>
          <p:nvPr/>
        </p:nvSpPr>
        <p:spPr>
          <a:xfrm>
            <a:off x="1508760" y="2880360"/>
            <a:ext cx="3657600" cy="365760"/>
          </a:xfrm>
          <a:prstGeom prst="rect">
            <a:avLst/>
          </a:prstGeom>
          <a:noFill/>
          <a:ln/>
        </p:spPr>
        <p:txBody>
          <a:bodyPr wrap="square" lIns="0" tIns="0" rIns="0" bIns="0" rtlCol="0" anchor="t"/>
          <a:lstStyle/>
          <a:p>
            <a:pPr indent="0" marL="0">
              <a:buNone/>
            </a:pPr>
            <a:r>
              <a:rPr lang="en-US" sz="1800" b="1" dirty="0">
                <a:solidFill>
                  <a:schemeClr val="tx2"/>
                </a:solidFill>
              </a:rPr>
              <a:t>LLM or offline template</a:t>
            </a:r>
            <a:endParaRPr lang="en-US" sz="1800" dirty="0"/>
          </a:p>
        </p:txBody>
      </p:sp>
      <p:sp>
        <p:nvSpPr>
          <p:cNvPr id="12" name="Text 10"/>
          <p:cNvSpPr txBox="1"/>
          <p:nvPr/>
        </p:nvSpPr>
        <p:spPr>
          <a:xfrm>
            <a:off x="1508760" y="3264408"/>
            <a:ext cx="3657600" cy="411480"/>
          </a:xfrm>
          <a:prstGeom prst="rect">
            <a:avLst/>
          </a:prstGeom>
          <a:noFill/>
          <a:ln/>
        </p:spPr>
        <p:txBody>
          <a:bodyPr wrap="square" lIns="0" tIns="0" rIns="0" bIns="0" rtlCol="0" anchor="t"/>
          <a:lstStyle/>
          <a:p>
            <a:pPr indent="0" marL="0">
              <a:buNone/>
            </a:pPr>
            <a:r>
              <a:rPr lang="en-US" sz="1400" dirty="0">
                <a:solidFill>
                  <a:schemeClr val="tx1"/>
                </a:solidFill>
              </a:rPr>
              <a:t>Claude via API when a key is set</a:t>
            </a:r>
            <a:endParaRPr lang="en-US" sz="1400" dirty="0"/>
          </a:p>
        </p:txBody>
      </p:sp>
      <p:sp>
        <p:nvSpPr>
          <p:cNvPr id="13" name="Flow Rule-based verifier"/>
          <p:cNvSpPr/>
          <p:nvPr/>
        </p:nvSpPr>
        <p:spPr>
          <a:xfrm>
            <a:off x="548640" y="3886200"/>
            <a:ext cx="4754880" cy="960120"/>
          </a:xfrm>
          <a:prstGeom prst="rect">
            <a:avLst/>
          </a:prstGeom>
          <a:solidFill>
            <a:schemeClr val="bg2"/>
          </a:solidFill>
          <a:ln w="12700">
            <a:solidFill>
              <a:schemeClr val="bg2"/>
            </a:solidFill>
            <a:prstDash val="solid"/>
          </a:ln>
        </p:spPr>
      </p:sp>
      <p:sp>
        <p:nvSpPr>
          <p:cNvPr id="14" name="Flow number 3"/>
          <p:cNvSpPr/>
          <p:nvPr/>
        </p:nvSpPr>
        <p:spPr>
          <a:xfrm>
            <a:off x="731520" y="4069080"/>
            <a:ext cx="594360" cy="594360"/>
          </a:xfrm>
          <a:prstGeom prst="ellipse">
            <a:avLst/>
          </a:prstGeom>
          <a:solidFill>
            <a:srgbClr val="E4572E"/>
          </a:solidFill>
          <a:ln w="12700">
            <a:solidFill>
              <a:srgbClr val="E4572E"/>
            </a:solidFill>
            <a:prstDash val="solid"/>
          </a:ln>
        </p:spPr>
      </p:sp>
      <p:sp>
        <p:nvSpPr>
          <p:cNvPr id="15" name="Text 13"/>
          <p:cNvSpPr txBox="1"/>
          <p:nvPr/>
        </p:nvSpPr>
        <p:spPr>
          <a:xfrm>
            <a:off x="731520" y="40690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Text 14"/>
          <p:cNvSpPr txBox="1"/>
          <p:nvPr/>
        </p:nvSpPr>
        <p:spPr>
          <a:xfrm>
            <a:off x="1508760" y="3977640"/>
            <a:ext cx="3657600" cy="365760"/>
          </a:xfrm>
          <a:prstGeom prst="rect">
            <a:avLst/>
          </a:prstGeom>
          <a:noFill/>
          <a:ln/>
        </p:spPr>
        <p:txBody>
          <a:bodyPr wrap="square" lIns="0" tIns="0" rIns="0" bIns="0" rtlCol="0" anchor="t"/>
          <a:lstStyle/>
          <a:p>
            <a:pPr indent="0" marL="0">
              <a:buNone/>
            </a:pPr>
            <a:r>
              <a:rPr lang="en-US" sz="1800" b="1" dirty="0">
                <a:solidFill>
                  <a:schemeClr val="tx2"/>
                </a:solidFill>
              </a:rPr>
              <a:t>Rule-based verifier</a:t>
            </a:r>
            <a:endParaRPr lang="en-US" sz="1800" dirty="0"/>
          </a:p>
        </p:txBody>
      </p:sp>
      <p:sp>
        <p:nvSpPr>
          <p:cNvPr id="17" name="Text 15"/>
          <p:cNvSpPr txBox="1"/>
          <p:nvPr/>
        </p:nvSpPr>
        <p:spPr>
          <a:xfrm>
            <a:off x="1508760" y="4361688"/>
            <a:ext cx="3657600" cy="411480"/>
          </a:xfrm>
          <a:prstGeom prst="rect">
            <a:avLst/>
          </a:prstGeom>
          <a:noFill/>
          <a:ln/>
        </p:spPr>
        <p:txBody>
          <a:bodyPr wrap="square" lIns="0" tIns="0" rIns="0" bIns="0" rtlCol="0" anchor="t"/>
          <a:lstStyle/>
          <a:p>
            <a:pPr indent="0" marL="0">
              <a:buNone/>
            </a:pPr>
            <a:r>
              <a:rPr lang="en-US" sz="1400" dirty="0">
                <a:solidFill>
                  <a:schemeClr val="tx1"/>
                </a:solidFill>
              </a:rPr>
              <a:t>Amounts, %, durations, banned terms, length</a:t>
            </a:r>
            <a:endParaRPr lang="en-US" sz="1400" dirty="0"/>
          </a:p>
        </p:txBody>
      </p:sp>
      <p:sp>
        <p:nvSpPr>
          <p:cNvPr id="18" name="Flow Agent reviews and edits"/>
          <p:cNvSpPr/>
          <p:nvPr/>
        </p:nvSpPr>
        <p:spPr>
          <a:xfrm>
            <a:off x="548640" y="4983480"/>
            <a:ext cx="4754880" cy="960120"/>
          </a:xfrm>
          <a:prstGeom prst="rect">
            <a:avLst/>
          </a:prstGeom>
          <a:solidFill>
            <a:schemeClr val="bg2"/>
          </a:solidFill>
          <a:ln w="12700">
            <a:solidFill>
              <a:schemeClr val="bg2"/>
            </a:solidFill>
            <a:prstDash val="solid"/>
          </a:ln>
        </p:spPr>
      </p:sp>
      <p:sp>
        <p:nvSpPr>
          <p:cNvPr id="19" name="Flow number 4"/>
          <p:cNvSpPr/>
          <p:nvPr/>
        </p:nvSpPr>
        <p:spPr>
          <a:xfrm>
            <a:off x="731520" y="5166360"/>
            <a:ext cx="594360" cy="594360"/>
          </a:xfrm>
          <a:prstGeom prst="ellipse">
            <a:avLst/>
          </a:prstGeom>
          <a:solidFill>
            <a:srgbClr val="12355B"/>
          </a:solidFill>
          <a:ln w="12700">
            <a:solidFill>
              <a:srgbClr val="12355B"/>
            </a:solidFill>
            <a:prstDash val="solid"/>
          </a:ln>
        </p:spPr>
      </p:sp>
      <p:sp>
        <p:nvSpPr>
          <p:cNvPr id="20" name="Text 18"/>
          <p:cNvSpPr txBox="1"/>
          <p:nvPr/>
        </p:nvSpPr>
        <p:spPr>
          <a:xfrm>
            <a:off x="731520" y="51663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Text 19"/>
          <p:cNvSpPr txBox="1"/>
          <p:nvPr/>
        </p:nvSpPr>
        <p:spPr>
          <a:xfrm>
            <a:off x="1508760" y="5074920"/>
            <a:ext cx="3657600" cy="365760"/>
          </a:xfrm>
          <a:prstGeom prst="rect">
            <a:avLst/>
          </a:prstGeom>
          <a:noFill/>
          <a:ln/>
        </p:spPr>
        <p:txBody>
          <a:bodyPr wrap="square" lIns="0" tIns="0" rIns="0" bIns="0" rtlCol="0" anchor="t"/>
          <a:lstStyle/>
          <a:p>
            <a:pPr indent="0" marL="0">
              <a:buNone/>
            </a:pPr>
            <a:r>
              <a:rPr lang="en-US" sz="1800" b="1" dirty="0">
                <a:solidFill>
                  <a:schemeClr val="tx2"/>
                </a:solidFill>
              </a:rPr>
              <a:t>Agent reviews and edits</a:t>
            </a:r>
            <a:endParaRPr lang="en-US" sz="1800" dirty="0"/>
          </a:p>
        </p:txBody>
      </p:sp>
      <p:sp>
        <p:nvSpPr>
          <p:cNvPr id="22" name="Text 20"/>
          <p:cNvSpPr txBox="1"/>
          <p:nvPr/>
        </p:nvSpPr>
        <p:spPr>
          <a:xfrm>
            <a:off x="1508760" y="5458968"/>
            <a:ext cx="3657600" cy="411480"/>
          </a:xfrm>
          <a:prstGeom prst="rect">
            <a:avLst/>
          </a:prstGeom>
          <a:noFill/>
          <a:ln/>
        </p:spPr>
        <p:txBody>
          <a:bodyPr wrap="square" lIns="0" tIns="0" rIns="0" bIns="0" rtlCol="0" anchor="t"/>
          <a:lstStyle/>
          <a:p>
            <a:pPr indent="0" marL="0">
              <a:buNone/>
            </a:pPr>
            <a:r>
              <a:rPr lang="en-US" sz="1400" dirty="0">
                <a:solidFill>
                  <a:schemeClr val="tx1"/>
                </a:solidFill>
              </a:rPr>
              <a:t>Shown as Verified or Needs review</a:t>
            </a:r>
            <a:endParaRPr lang="en-US" sz="1400" dirty="0"/>
          </a:p>
        </p:txBody>
      </p:sp>
      <p:pic>
        <p:nvPicPr>
          <p:cNvPr id="23" name="GenAI screenshot" descr="Customer detail tab showing risk reasons, a generated call script and the verification result">    </p:cNvPr>
          <p:cNvPicPr>
            <a:picLocks noChangeAspect="1"/>
          </p:cNvPicPr>
          <p:nvPr/>
        </p:nvPicPr>
        <p:blipFill>
          <a:blip r:embed="rId1"/>
          <a:stretch>
            <a:fillRect/>
          </a:stretch>
        </p:blipFill>
        <p:spPr>
          <a:xfrm>
            <a:off x="5669280" y="1691640"/>
            <a:ext cx="5943600" cy="3301898"/>
          </a:xfrm>
          <a:prstGeom prst="rect">
            <a:avLst/>
          </a:prstGeom>
        </p:spPr>
      </p:pic>
      <p:sp>
        <p:nvSpPr>
          <p:cNvPr id="24" name="Text 21"/>
          <p:cNvSpPr txBox="1"/>
          <p:nvPr/>
        </p:nvSpPr>
        <p:spPr>
          <a:xfrm>
            <a:off x="5669280" y="5166360"/>
            <a:ext cx="5943600" cy="365760"/>
          </a:xfrm>
          <a:prstGeom prst="rect">
            <a:avLst/>
          </a:prstGeom>
          <a:noFill/>
          <a:ln/>
        </p:spPr>
        <p:txBody>
          <a:bodyPr wrap="square" lIns="0" tIns="0" rIns="0" bIns="0" rtlCol="0" anchor="t"/>
          <a:lstStyle/>
          <a:p>
            <a:pPr indent="0" marL="0">
              <a:buNone/>
            </a:pPr>
            <a:r>
              <a:rPr lang="en-US" sz="1600" b="1" dirty="0">
                <a:solidFill>
                  <a:schemeClr val="tx2"/>
                </a:solidFill>
              </a:rPr>
              <a:t>The AI only words facts and offers the business already approved.</a:t>
            </a:r>
            <a:endParaRPr lang="en-US" sz="1600" dirty="0"/>
          </a:p>
        </p:txBody>
      </p:sp>
      <p:sp>
        <p:nvSpPr>
          <p:cNvPr id="25" name="Text 22"/>
          <p:cNvSpPr txBox="1"/>
          <p:nvPr/>
        </p:nvSpPr>
        <p:spPr>
          <a:xfrm>
            <a:off x="5669280" y="5623560"/>
            <a:ext cx="5943600" cy="685800"/>
          </a:xfrm>
          <a:prstGeom prst="rect">
            <a:avLst/>
          </a:prstGeom>
          <a:noFill/>
          <a:ln/>
        </p:spPr>
        <p:txBody>
          <a:bodyPr wrap="square" lIns="0" tIns="0" rIns="0" bIns="0" rtlCol="0" anchor="t"/>
          <a:lstStyle/>
          <a:p>
            <a:pPr indent="0" marL="0">
              <a:buNone/>
            </a:pPr>
            <a:r>
              <a:rPr lang="en-US" sz="1400" dirty="0">
                <a:solidFill>
                  <a:schemeClr val="tx1"/>
                </a:solidFill>
              </a:rPr>
              <a:t>Evidence: 7 automated tests pass; all 7,043 template scripts pass the verifier; test scripts with a 50% discount or a "senior customer" mention are rejected.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Calling High and Critical customers pays back</a:t>
            </a:r>
            <a:endParaRPr lang="en-US" sz="3600" dirty="0"/>
          </a:p>
        </p:txBody>
      </p:sp>
      <p:graphicFrame>
        <p:nvGraphicFramePr>
          <p:cNvPr id="3" name="Net benefit chart" descr=""/>
          <p:cNvGraphicFramePr/>
          <p:nvPr/>
        </p:nvGraphicFramePr>
        <p:xfrm>
          <a:off x="548640" y="169164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15000"/>
            <a:ext cx="6583680" cy="274320"/>
          </a:xfrm>
          <a:prstGeom prst="rect">
            <a:avLst/>
          </a:prstGeom>
          <a:noFill/>
          <a:ln/>
        </p:spPr>
        <p:txBody>
          <a:bodyPr wrap="square" lIns="0" tIns="0" rIns="0" bIns="0" rtlCol="0" anchor="ctr"/>
          <a:lstStyle/>
          <a:p>
            <a:pPr indent="0" marL="0">
              <a:buNone/>
            </a:pPr>
            <a:r>
              <a:rPr lang="en-US" sz="1200" dirty="0">
                <a:solidFill>
                  <a:srgbClr val="5B6575"/>
                </a:solidFill>
              </a:rPr>
              <a:t>Expected net benefit by risk tier, active customers only</a:t>
            </a:r>
            <a:endParaRPr lang="en-US" sz="1200" dirty="0"/>
          </a:p>
        </p:txBody>
      </p:sp>
      <p:sp>
        <p:nvSpPr>
          <p:cNvPr id="5" name="Impact 1"/>
          <p:cNvSpPr/>
          <p:nvPr/>
        </p:nvSpPr>
        <p:spPr>
          <a:xfrm>
            <a:off x="7589520" y="1691640"/>
            <a:ext cx="4023360" cy="1234440"/>
          </a:xfrm>
          <a:prstGeom prst="rect">
            <a:avLst/>
          </a:prstGeom>
          <a:solidFill>
            <a:schemeClr val="bg2"/>
          </a:solidFill>
          <a:ln w="12700">
            <a:solidFill>
              <a:schemeClr val="bg2"/>
            </a:solidFill>
            <a:prstDash val="solid"/>
          </a:ln>
        </p:spPr>
      </p:sp>
      <p:sp>
        <p:nvSpPr>
          <p:cNvPr id="6" name="Text 3"/>
          <p:cNvSpPr txBox="1"/>
          <p:nvPr/>
        </p:nvSpPr>
        <p:spPr>
          <a:xfrm>
            <a:off x="7772400" y="1783080"/>
            <a:ext cx="2011680" cy="1051560"/>
          </a:xfrm>
          <a:prstGeom prst="rect">
            <a:avLst/>
          </a:prstGeom>
          <a:noFill/>
          <a:ln/>
        </p:spPr>
        <p:txBody>
          <a:bodyPr wrap="square" lIns="0" tIns="0" rIns="0" bIns="0" rtlCol="0" anchor="ctr"/>
          <a:lstStyle/>
          <a:p>
            <a:pPr indent="0" marL="0">
              <a:buNone/>
            </a:pPr>
            <a:r>
              <a:rPr lang="en-US" sz="3200" b="1" dirty="0">
                <a:solidFill>
                  <a:schemeClr val="tx2"/>
                </a:solidFill>
              </a:rPr>
              <a:t>537</a:t>
            </a:r>
            <a:endParaRPr lang="en-US" sz="3200" dirty="0"/>
          </a:p>
        </p:txBody>
      </p:sp>
      <p:sp>
        <p:nvSpPr>
          <p:cNvPr id="7" name="Text 4"/>
          <p:cNvSpPr txBox="1"/>
          <p:nvPr/>
        </p:nvSpPr>
        <p:spPr>
          <a:xfrm>
            <a:off x="9829800" y="1783080"/>
            <a:ext cx="1691640" cy="1051560"/>
          </a:xfrm>
          <a:prstGeom prst="rect">
            <a:avLst/>
          </a:prstGeom>
          <a:noFill/>
          <a:ln/>
        </p:spPr>
        <p:txBody>
          <a:bodyPr wrap="square" lIns="0" tIns="0" rIns="0" bIns="0" rtlCol="0" anchor="ctr"/>
          <a:lstStyle/>
          <a:p>
            <a:pPr indent="0" marL="0">
              <a:buNone/>
            </a:pPr>
            <a:r>
              <a:rPr lang="en-US" sz="1400" dirty="0">
                <a:solidFill>
                  <a:schemeClr val="tx1"/>
                </a:solidFill>
              </a:rPr>
              <a:t>active High and Critical customers to call</a:t>
            </a:r>
            <a:endParaRPr lang="en-US" sz="1400" dirty="0"/>
          </a:p>
        </p:txBody>
      </p:sp>
      <p:sp>
        <p:nvSpPr>
          <p:cNvPr id="8" name="Impact 2"/>
          <p:cNvSpPr/>
          <p:nvPr/>
        </p:nvSpPr>
        <p:spPr>
          <a:xfrm>
            <a:off x="7589520" y="3063240"/>
            <a:ext cx="4023360" cy="1234440"/>
          </a:xfrm>
          <a:prstGeom prst="rect">
            <a:avLst/>
          </a:prstGeom>
          <a:solidFill>
            <a:schemeClr val="bg2"/>
          </a:solidFill>
          <a:ln w="12700">
            <a:solidFill>
              <a:schemeClr val="bg2"/>
            </a:solidFill>
            <a:prstDash val="solid"/>
          </a:ln>
        </p:spPr>
      </p:sp>
      <p:sp>
        <p:nvSpPr>
          <p:cNvPr id="9" name="Text 6"/>
          <p:cNvSpPr txBox="1"/>
          <p:nvPr/>
        </p:nvSpPr>
        <p:spPr>
          <a:xfrm>
            <a:off x="7772400" y="3154680"/>
            <a:ext cx="2011680" cy="1051560"/>
          </a:xfrm>
          <a:prstGeom prst="rect">
            <a:avLst/>
          </a:prstGeom>
          <a:noFill/>
          <a:ln/>
        </p:spPr>
        <p:txBody>
          <a:bodyPr wrap="square" lIns="0" tIns="0" rIns="0" bIns="0" rtlCol="0" anchor="ctr"/>
          <a:lstStyle/>
          <a:p>
            <a:pPr indent="0" marL="0">
              <a:buNone/>
            </a:pPr>
            <a:r>
              <a:rPr lang="en-US" sz="3200" b="1" dirty="0">
                <a:solidFill>
                  <a:schemeClr val="accent3"/>
                </a:solidFill>
              </a:rPr>
              <a:t>USD 84k</a:t>
            </a:r>
            <a:endParaRPr lang="en-US" sz="3200" dirty="0"/>
          </a:p>
        </p:txBody>
      </p:sp>
      <p:sp>
        <p:nvSpPr>
          <p:cNvPr id="10" name="Text 7"/>
          <p:cNvSpPr txBox="1"/>
          <p:nvPr/>
        </p:nvSpPr>
        <p:spPr>
          <a:xfrm>
            <a:off x="9829800" y="3154680"/>
            <a:ext cx="1691640" cy="1051560"/>
          </a:xfrm>
          <a:prstGeom prst="rect">
            <a:avLst/>
          </a:prstGeom>
          <a:noFill/>
          <a:ln/>
        </p:spPr>
        <p:txBody>
          <a:bodyPr wrap="square" lIns="0" tIns="0" rIns="0" bIns="0" rtlCol="0" anchor="ctr"/>
          <a:lstStyle/>
          <a:p>
            <a:pPr indent="0" marL="0">
              <a:buNone/>
            </a:pPr>
            <a:r>
              <a:rPr lang="en-US" sz="1400" dirty="0">
                <a:solidFill>
                  <a:schemeClr val="tx1"/>
                </a:solidFill>
              </a:rPr>
              <a:t>expected net benefit</a:t>
            </a:r>
            <a:endParaRPr lang="en-US" sz="1400" dirty="0"/>
          </a:p>
        </p:txBody>
      </p:sp>
      <p:sp>
        <p:nvSpPr>
          <p:cNvPr id="11" name="Impact 3"/>
          <p:cNvSpPr/>
          <p:nvPr/>
        </p:nvSpPr>
        <p:spPr>
          <a:xfrm>
            <a:off x="7589520" y="4434840"/>
            <a:ext cx="4023360" cy="1234440"/>
          </a:xfrm>
          <a:prstGeom prst="rect">
            <a:avLst/>
          </a:prstGeom>
          <a:solidFill>
            <a:schemeClr val="bg2"/>
          </a:solidFill>
          <a:ln w="12700">
            <a:solidFill>
              <a:schemeClr val="bg2"/>
            </a:solidFill>
            <a:prstDash val="solid"/>
          </a:ln>
        </p:spPr>
      </p:sp>
      <p:sp>
        <p:nvSpPr>
          <p:cNvPr id="12" name="Text 9"/>
          <p:cNvSpPr txBox="1"/>
          <p:nvPr/>
        </p:nvSpPr>
        <p:spPr>
          <a:xfrm>
            <a:off x="7772400" y="4526280"/>
            <a:ext cx="2011680" cy="1051560"/>
          </a:xfrm>
          <a:prstGeom prst="rect">
            <a:avLst/>
          </a:prstGeom>
          <a:noFill/>
          <a:ln/>
        </p:spPr>
        <p:txBody>
          <a:bodyPr wrap="square" lIns="0" tIns="0" rIns="0" bIns="0" rtlCol="0" anchor="ctr"/>
          <a:lstStyle/>
          <a:p>
            <a:pPr indent="0" marL="0">
              <a:buNone/>
            </a:pPr>
            <a:r>
              <a:rPr lang="en-US" sz="3200" b="1" dirty="0">
                <a:solidFill>
                  <a:schemeClr val="tx2"/>
                </a:solidFill>
              </a:rPr>
              <a:t>596%</a:t>
            </a:r>
            <a:endParaRPr lang="en-US" sz="3200" dirty="0"/>
          </a:p>
        </p:txBody>
      </p:sp>
      <p:sp>
        <p:nvSpPr>
          <p:cNvPr id="13" name="Text 10"/>
          <p:cNvSpPr txBox="1"/>
          <p:nvPr/>
        </p:nvSpPr>
        <p:spPr>
          <a:xfrm>
            <a:off x="9829800" y="4526280"/>
            <a:ext cx="1691640" cy="1051560"/>
          </a:xfrm>
          <a:prstGeom prst="rect">
            <a:avLst/>
          </a:prstGeom>
          <a:noFill/>
          <a:ln/>
        </p:spPr>
        <p:txBody>
          <a:bodyPr wrap="square" lIns="0" tIns="0" rIns="0" bIns="0" rtlCol="0" anchor="ctr"/>
          <a:lstStyle/>
          <a:p>
            <a:pPr indent="0" marL="0">
              <a:buNone/>
            </a:pPr>
            <a:r>
              <a:rPr lang="en-US" sz="1400" dirty="0">
                <a:solidFill>
                  <a:schemeClr val="tx1"/>
                </a:solidFill>
              </a:rPr>
              <a:t>ROI; still 333% if only 10% are saved</a:t>
            </a:r>
            <a:endParaRPr lang="en-US" sz="1400" dirty="0"/>
          </a:p>
        </p:txBody>
      </p:sp>
      <p:sp>
        <p:nvSpPr>
          <p:cNvPr id="14" name="Text 11"/>
          <p:cNvSpPr txBox="1"/>
          <p:nvPr/>
        </p:nvSpPr>
        <p:spPr>
          <a:xfrm>
            <a:off x="7589520" y="5833872"/>
            <a:ext cx="4023360" cy="502920"/>
          </a:xfrm>
          <a:prstGeom prst="rect">
            <a:avLst/>
          </a:prstGeom>
          <a:noFill/>
          <a:ln/>
        </p:spPr>
        <p:txBody>
          <a:bodyPr wrap="square" lIns="0" tIns="0" rIns="0" bIns="0" rtlCol="0" anchor="t"/>
          <a:lstStyle/>
          <a:p>
            <a:pPr indent="0" marL="0">
              <a:buNone/>
            </a:pPr>
            <a:r>
              <a:rPr lang="en-US" sz="1200" b="1" dirty="0">
                <a:solidFill>
                  <a:schemeClr val="tx2"/>
                </a:solidFill>
              </a:rPr>
              <a:t>Call Critical and High first, add Medium as capacity allows; serve Low with cheap automated messages.</a:t>
            </a:r>
            <a:endParaRPr lang="en-US" sz="1200" dirty="0"/>
          </a:p>
        </p:txBody>
      </p:sp>
      <p:sp>
        <p:nvSpPr>
          <p:cNvPr id="15" name="Text 12"/>
          <p:cNvSpPr txBox="1"/>
          <p:nvPr/>
        </p:nvSpPr>
        <p:spPr>
          <a:xfrm>
            <a:off x="548640" y="6053328"/>
            <a:ext cx="6583680" cy="274320"/>
          </a:xfrm>
          <a:prstGeom prst="rect">
            <a:avLst/>
          </a:prstGeom>
          <a:noFill/>
          <a:ln/>
        </p:spPr>
        <p:txBody>
          <a:bodyPr wrap="square" lIns="0" tIns="0" rIns="0" bIns="0" rtlCol="0" anchor="ctr"/>
          <a:lstStyle/>
          <a:p>
            <a:pPr indent="0" marL="0">
              <a:buNone/>
            </a:pPr>
            <a:r>
              <a:rPr lang="en-US" sz="1000" dirty="0">
                <a:solidFill>
                  <a:srgbClr val="5B6575"/>
                </a:solidFill>
              </a:rPr>
              <a:t>Illustrative assumptions: USD 8 per contact, 30% save rate, 12 months of revenue kept, discount costs 10% of it.</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tx2"/>
                </a:solidFill>
              </a:rPr>
              <a:t>How we verified the work, and its limits</a:t>
            </a:r>
            <a:endParaRPr lang="en-US" sz="3600" dirty="0"/>
          </a:p>
        </p:txBody>
      </p:sp>
      <p:sp>
        <p:nvSpPr>
          <p:cNvPr id="3" name="Column Verified"/>
          <p:cNvSpPr/>
          <p:nvPr/>
        </p:nvSpPr>
        <p:spPr>
          <a:xfrm>
            <a:off x="548640" y="1691640"/>
            <a:ext cx="5349240" cy="4434840"/>
          </a:xfrm>
          <a:prstGeom prst="rect">
            <a:avLst/>
          </a:prstGeom>
          <a:solidFill>
            <a:schemeClr val="bg2"/>
          </a:solidFill>
          <a:ln w="12700">
            <a:solidFill>
              <a:schemeClr val="bg2"/>
            </a:solidFill>
            <a:prstDash val="solid"/>
          </a:ln>
        </p:spPr>
      </p:sp>
      <p:sp>
        <p:nvSpPr>
          <p:cNvPr id="4" name="Icon Verified circle"/>
          <p:cNvSpPr/>
          <p:nvPr/>
        </p:nvSpPr>
        <p:spPr>
          <a:xfrm>
            <a:off x="868680" y="1920240"/>
            <a:ext cx="640080" cy="640080"/>
          </a:xfrm>
          <a:prstGeom prst="ellipse">
            <a:avLst/>
          </a:prstGeom>
          <a:solidFill>
            <a:srgbClr val="1B998B"/>
          </a:solidFill>
          <a:ln w="12700">
            <a:solidFill>
              <a:srgbClr val="1B998B"/>
            </a:solidFill>
            <a:prstDash val="solid"/>
          </a:ln>
        </p:spPr>
      </p:sp>
      <p:pic>
        <p:nvPicPr>
          <p:cNvPr id="5" name="Icon Verified" descr="Icon Verified">    </p:cNvPr>
          <p:cNvPicPr>
            <a:picLocks noChangeAspect="1"/>
          </p:cNvPicPr>
          <p:nvPr/>
        </p:nvPicPr>
        <p:blipFill>
          <a:blip r:embed="rId1"/>
          <a:stretch>
            <a:fillRect/>
          </a:stretch>
        </p:blipFill>
        <p:spPr>
          <a:xfrm>
            <a:off x="1035101" y="2086661"/>
            <a:ext cx="307238" cy="307238"/>
          </a:xfrm>
          <a:prstGeom prst="rect">
            <a:avLst/>
          </a:prstGeom>
        </p:spPr>
      </p:pic>
      <p:sp>
        <p:nvSpPr>
          <p:cNvPr id="6" name="Text 3"/>
          <p:cNvSpPr txBox="1"/>
          <p:nvPr/>
        </p:nvSpPr>
        <p:spPr>
          <a:xfrm>
            <a:off x="1737360" y="1920240"/>
            <a:ext cx="3840480" cy="640080"/>
          </a:xfrm>
          <a:prstGeom prst="rect">
            <a:avLst/>
          </a:prstGeom>
          <a:noFill/>
          <a:ln/>
        </p:spPr>
        <p:txBody>
          <a:bodyPr wrap="square" lIns="0" tIns="0" rIns="0" bIns="0" rtlCol="0" anchor="ctr"/>
          <a:lstStyle/>
          <a:p>
            <a:pPr indent="0" marL="0">
              <a:buNone/>
            </a:pPr>
            <a:r>
              <a:rPr lang="en-US" sz="2400" b="1" dirty="0">
                <a:solidFill>
                  <a:schemeClr val="tx2"/>
                </a:solidFill>
              </a:rPr>
              <a:t>Verified</a:t>
            </a:r>
            <a:endParaRPr lang="en-US" sz="2400" dirty="0"/>
          </a:p>
        </p:txBody>
      </p:sp>
      <p:sp>
        <p:nvSpPr>
          <p:cNvPr id="7" name="Text 4"/>
          <p:cNvSpPr txBox="1"/>
          <p:nvPr/>
        </p:nvSpPr>
        <p:spPr>
          <a:xfrm>
            <a:off x="868680" y="2788920"/>
            <a:ext cx="4709160" cy="31546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Row counts reconciled at every load step</a:t>
            </a:r>
            <a:endParaRPr lang="en-US" sz="1800" dirty="0"/>
          </a:p>
          <a:p>
            <a:pPr marL="342900" indent="-342900">
              <a:spcAft>
                <a:spcPts val="1000"/>
              </a:spcAft>
              <a:buSzPct val="100000"/>
              <a:buChar char="•"/>
            </a:pPr>
            <a:r>
              <a:rPr lang="en-US" sz="1800" dirty="0">
                <a:solidFill>
                  <a:schemeClr val="tx1"/>
                </a:solidFill>
              </a:rPr>
              <a:t>Scores are out-of-fold: no customer is scored by a model that saw them</a:t>
            </a:r>
            <a:endParaRPr lang="en-US" sz="1800" dirty="0"/>
          </a:p>
          <a:p>
            <a:pPr marL="342900" indent="-342900">
              <a:spcAft>
                <a:spcPts val="1000"/>
              </a:spcAft>
              <a:buSzPct val="100000"/>
              <a:buChar char="•"/>
            </a:pPr>
            <a:r>
              <a:rPr lang="en-US" sz="1800" dirty="0">
                <a:solidFill>
                  <a:schemeClr val="tx1"/>
                </a:solidFill>
              </a:rPr>
              <a:t>AI scripts checked by rules; 7 automated tests pass</a:t>
            </a:r>
            <a:endParaRPr lang="en-US" sz="1800" dirty="0"/>
          </a:p>
          <a:p>
            <a:pPr marL="342900" indent="-342900">
              <a:spcAft>
                <a:spcPts val="1000"/>
              </a:spcAft>
              <a:buSzPct val="100000"/>
              <a:buChar char="•"/>
            </a:pPr>
            <a:r>
              <a:rPr lang="en-US" sz="1800" dirty="0">
                <a:solidFill>
                  <a:schemeClr val="tx1"/>
                </a:solidFill>
              </a:rPr>
              <a:t>Dashboard run headless: every tab, filter and button</a:t>
            </a:r>
            <a:endParaRPr lang="en-US" sz="1800" dirty="0"/>
          </a:p>
          <a:p>
            <a:pPr marL="342900" indent="-342900">
              <a:spcAft>
                <a:spcPts val="1000"/>
              </a:spcAft>
              <a:buSzPct val="100000"/>
              <a:buChar char="•"/>
            </a:pPr>
            <a:r>
              <a:rPr lang="en-US" sz="1800" dirty="0">
                <a:solidFill>
                  <a:schemeClr val="tx1"/>
                </a:solidFill>
              </a:rPr>
              <a:t>Report and slide numbers taken from pipeline outputs</a:t>
            </a:r>
            <a:endParaRPr lang="en-US" sz="1800" dirty="0"/>
          </a:p>
        </p:txBody>
      </p:sp>
      <p:sp>
        <p:nvSpPr>
          <p:cNvPr id="8" name="Column Limitations"/>
          <p:cNvSpPr/>
          <p:nvPr/>
        </p:nvSpPr>
        <p:spPr>
          <a:xfrm>
            <a:off x="6263640" y="1691640"/>
            <a:ext cx="5349240" cy="4434840"/>
          </a:xfrm>
          <a:prstGeom prst="rect">
            <a:avLst/>
          </a:prstGeom>
          <a:solidFill>
            <a:schemeClr val="bg2"/>
          </a:solidFill>
          <a:ln w="12700">
            <a:solidFill>
              <a:schemeClr val="bg2"/>
            </a:solidFill>
            <a:prstDash val="solid"/>
          </a:ln>
        </p:spPr>
      </p:sp>
      <p:sp>
        <p:nvSpPr>
          <p:cNvPr id="9" name="Icon Limitations circle"/>
          <p:cNvSpPr/>
          <p:nvPr/>
        </p:nvSpPr>
        <p:spPr>
          <a:xfrm>
            <a:off x="6583680" y="1920240"/>
            <a:ext cx="640080" cy="640080"/>
          </a:xfrm>
          <a:prstGeom prst="ellipse">
            <a:avLst/>
          </a:prstGeom>
          <a:solidFill>
            <a:srgbClr val="E4572E"/>
          </a:solidFill>
          <a:ln w="12700">
            <a:solidFill>
              <a:srgbClr val="E4572E"/>
            </a:solidFill>
            <a:prstDash val="solid"/>
          </a:ln>
        </p:spPr>
      </p:sp>
      <p:pic>
        <p:nvPicPr>
          <p:cNvPr id="10" name="Icon Limitations" descr="Icon Limitations">    </p:cNvPr>
          <p:cNvPicPr>
            <a:picLocks noChangeAspect="1"/>
          </p:cNvPicPr>
          <p:nvPr/>
        </p:nvPicPr>
        <p:blipFill>
          <a:blip r:embed="rId2"/>
          <a:stretch>
            <a:fillRect/>
          </a:stretch>
        </p:blipFill>
        <p:spPr>
          <a:xfrm>
            <a:off x="6750101" y="2086661"/>
            <a:ext cx="307238" cy="307238"/>
          </a:xfrm>
          <a:prstGeom prst="rect">
            <a:avLst/>
          </a:prstGeom>
        </p:spPr>
      </p:pic>
      <p:sp>
        <p:nvSpPr>
          <p:cNvPr id="11" name="Text 7"/>
          <p:cNvSpPr txBox="1"/>
          <p:nvPr/>
        </p:nvSpPr>
        <p:spPr>
          <a:xfrm>
            <a:off x="7452360" y="1920240"/>
            <a:ext cx="3840480" cy="640080"/>
          </a:xfrm>
          <a:prstGeom prst="rect">
            <a:avLst/>
          </a:prstGeom>
          <a:noFill/>
          <a:ln/>
        </p:spPr>
        <p:txBody>
          <a:bodyPr wrap="square" lIns="0" tIns="0" rIns="0" bIns="0" rtlCol="0" anchor="ctr"/>
          <a:lstStyle/>
          <a:p>
            <a:pPr indent="0" marL="0">
              <a:buNone/>
            </a:pPr>
            <a:r>
              <a:rPr lang="en-US" sz="2400" b="1" dirty="0">
                <a:solidFill>
                  <a:schemeClr val="tx2"/>
                </a:solidFill>
              </a:rPr>
              <a:t>Limitations</a:t>
            </a:r>
            <a:endParaRPr lang="en-US" sz="2400" dirty="0"/>
          </a:p>
        </p:txBody>
      </p:sp>
      <p:sp>
        <p:nvSpPr>
          <p:cNvPr id="12" name="Text 8"/>
          <p:cNvSpPr txBox="1"/>
          <p:nvPr/>
        </p:nvSpPr>
        <p:spPr>
          <a:xfrm>
            <a:off x="6583680" y="2788920"/>
            <a:ext cx="4709160" cy="31546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One snapshot without dates: scores show relative risk, ROI is a simulation</a:t>
            </a:r>
            <a:endParaRPr lang="en-US" sz="1800" dirty="0"/>
          </a:p>
          <a:p>
            <a:pPr marL="342900" indent="-342900">
              <a:spcAft>
                <a:spcPts val="1000"/>
              </a:spcAft>
              <a:buSzPct val="100000"/>
              <a:buChar char="•"/>
            </a:pPr>
            <a:r>
              <a:rPr lang="en-US" sz="1800" dirty="0">
                <a:solidFill>
                  <a:schemeClr val="tx1"/>
                </a:solidFill>
              </a:rPr>
              <a:t>Save rate and costs are assumptions, not measurements</a:t>
            </a:r>
            <a:endParaRPr lang="en-US" sz="1800" dirty="0"/>
          </a:p>
          <a:p>
            <a:pPr marL="342900" indent="-342900">
              <a:spcAft>
                <a:spcPts val="1000"/>
              </a:spcAft>
              <a:buSzPct val="100000"/>
              <a:buChar char="•"/>
            </a:pPr>
            <a:r>
              <a:rPr lang="en-US" sz="1800" dirty="0">
                <a:solidFill>
                  <a:schemeClr val="tx1"/>
                </a:solidFill>
              </a:rPr>
              <a:t>Telecom data is a proxy for banks and insurers</a:t>
            </a:r>
            <a:endParaRPr lang="en-US" sz="1800" dirty="0"/>
          </a:p>
          <a:p>
            <a:pPr marL="342900" indent="-342900">
              <a:spcAft>
                <a:spcPts val="1000"/>
              </a:spcAft>
              <a:buSzPct val="100000"/>
              <a:buChar char="•"/>
            </a:pPr>
            <a:r>
              <a:rPr lang="en-US" sz="1800" dirty="0">
                <a:solidFill>
                  <a:schemeClr val="tx1"/>
                </a:solidFill>
              </a:rPr>
              <a:t>Live LLM call not exercised without an API key; template path tested</a:t>
            </a:r>
            <a:endParaRPr lang="en-US" sz="18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143000"/>
          </a:xfrm>
          <a:prstGeom prst="rect">
            <a:avLst/>
          </a:prstGeom>
          <a:noFill/>
          <a:ln/>
        </p:spPr>
        <p:txBody>
          <a:bodyPr wrap="square" lIns="0" tIns="0" rIns="0" bIns="0" rtlCol="0" anchor="t"/>
          <a:lstStyle/>
          <a:p>
            <a:pPr algn="l" indent="0" marL="0">
              <a:buNone/>
            </a:pPr>
            <a:r>
              <a:rPr lang="en-US" sz="3600" b="1" dirty="0">
                <a:solidFill>
                  <a:schemeClr val="bg1"/>
                </a:solidFill>
              </a:rPr>
              <a:t>Recommendation and next steps</a:t>
            </a:r>
            <a:endParaRPr lang="en-US" sz="3600" dirty="0"/>
          </a:p>
        </p:txBody>
      </p:sp>
      <p:sp>
        <p:nvSpPr>
          <p:cNvPr id="3" name="Text 1"/>
          <p:cNvSpPr txBox="1"/>
          <p:nvPr/>
        </p:nvSpPr>
        <p:spPr>
          <a:xfrm>
            <a:off x="548640" y="1691640"/>
            <a:ext cx="5394960" cy="457200"/>
          </a:xfrm>
          <a:prstGeom prst="rect">
            <a:avLst/>
          </a:prstGeom>
          <a:noFill/>
          <a:ln/>
        </p:spPr>
        <p:txBody>
          <a:bodyPr wrap="square" lIns="0" tIns="0" rIns="0" bIns="0" rtlCol="0" anchor="t"/>
          <a:lstStyle/>
          <a:p>
            <a:pPr indent="0" marL="0">
              <a:buNone/>
            </a:pPr>
            <a:r>
              <a:rPr lang="en-US" sz="2400" b="1" dirty="0">
                <a:solidFill>
                  <a:srgbClr val="FFFFFF"/>
                </a:solidFill>
              </a:rPr>
              <a:t>Recommendation</a:t>
            </a:r>
            <a:endParaRPr lang="en-US" sz="2400" dirty="0"/>
          </a:p>
        </p:txBody>
      </p:sp>
      <p:sp>
        <p:nvSpPr>
          <p:cNvPr id="4" name="Text 2"/>
          <p:cNvSpPr txBox="1"/>
          <p:nvPr/>
        </p:nvSpPr>
        <p:spPr>
          <a:xfrm>
            <a:off x="548640" y="2286000"/>
            <a:ext cx="5394960" cy="32918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Start with the 537 active High and Critical customers</a:t>
            </a:r>
            <a:endParaRPr lang="en-US" sz="1800" dirty="0"/>
          </a:p>
          <a:p>
            <a:pPr marL="342900" indent="-342900">
              <a:spcAft>
                <a:spcPts val="1000"/>
              </a:spcAft>
              <a:buSzPct val="100000"/>
              <a:buChar char="•"/>
            </a:pPr>
            <a:r>
              <a:rPr lang="en-US" sz="1800" dirty="0">
                <a:solidFill>
                  <a:srgbClr val="FFFFFF"/>
                </a:solidFill>
              </a:rPr>
              <a:t>Offer month-to-month fiber customers a discounted one-year contract</a:t>
            </a:r>
            <a:endParaRPr lang="en-US" sz="1800" dirty="0"/>
          </a:p>
          <a:p>
            <a:pPr marL="342900" indent="-342900">
              <a:spcAft>
                <a:spcPts val="1000"/>
              </a:spcAft>
              <a:buSzPct val="100000"/>
              <a:buChar char="•"/>
            </a:pPr>
            <a:r>
              <a:rPr lang="en-US" sz="1800" dirty="0">
                <a:solidFill>
                  <a:srgbClr val="FFFFFF"/>
                </a:solidFill>
              </a:rPr>
              <a:t>Move electronic-check payers to automatic payment</a:t>
            </a:r>
            <a:endParaRPr lang="en-US" sz="1800" dirty="0"/>
          </a:p>
          <a:p>
            <a:pPr marL="342900" indent="-342900">
              <a:spcAft>
                <a:spcPts val="1000"/>
              </a:spcAft>
              <a:buSzPct val="100000"/>
              <a:buChar char="•"/>
            </a:pPr>
            <a:r>
              <a:rPr lang="en-US" sz="1800" dirty="0">
                <a:solidFill>
                  <a:srgbClr val="FFFFFF"/>
                </a:solidFill>
              </a:rPr>
              <a:t>Bundle Online Security and Tech Support for customers without them</a:t>
            </a:r>
            <a:endParaRPr lang="en-US" sz="1800" dirty="0"/>
          </a:p>
        </p:txBody>
      </p:sp>
      <p:sp>
        <p:nvSpPr>
          <p:cNvPr id="5" name="Text 3"/>
          <p:cNvSpPr txBox="1"/>
          <p:nvPr/>
        </p:nvSpPr>
        <p:spPr>
          <a:xfrm>
            <a:off x="6492240" y="1691640"/>
            <a:ext cx="5120640" cy="457200"/>
          </a:xfrm>
          <a:prstGeom prst="rect">
            <a:avLst/>
          </a:prstGeom>
          <a:noFill/>
          <a:ln/>
        </p:spPr>
        <p:txBody>
          <a:bodyPr wrap="square" lIns="0" tIns="0" rIns="0" bIns="0" rtlCol="0" anchor="t"/>
          <a:lstStyle/>
          <a:p>
            <a:pPr indent="0" marL="0">
              <a:buNone/>
            </a:pPr>
            <a:r>
              <a:rPr lang="en-US" sz="2400" b="1" dirty="0">
                <a:solidFill>
                  <a:srgbClr val="FFFFFF"/>
                </a:solidFill>
              </a:rPr>
              <a:t>Next steps</a:t>
            </a:r>
            <a:endParaRPr lang="en-US" sz="2400" dirty="0"/>
          </a:p>
        </p:txBody>
      </p:sp>
      <p:sp>
        <p:nvSpPr>
          <p:cNvPr id="6" name="Next step number 1"/>
          <p:cNvSpPr/>
          <p:nvPr/>
        </p:nvSpPr>
        <p:spPr>
          <a:xfrm>
            <a:off x="6492240" y="2331720"/>
            <a:ext cx="548640" cy="548640"/>
          </a:xfrm>
          <a:prstGeom prst="ellipse">
            <a:avLst/>
          </a:prstGeom>
          <a:solidFill>
            <a:srgbClr val="1B998B"/>
          </a:solidFill>
          <a:ln w="12700">
            <a:solidFill>
              <a:srgbClr val="1B998B"/>
            </a:solidFill>
            <a:prstDash val="solid"/>
          </a:ln>
        </p:spPr>
      </p:sp>
      <p:sp>
        <p:nvSpPr>
          <p:cNvPr id="7" name="Text 5"/>
          <p:cNvSpPr txBox="1"/>
          <p:nvPr/>
        </p:nvSpPr>
        <p:spPr>
          <a:xfrm>
            <a:off x="6492240"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Text 6"/>
          <p:cNvSpPr txBox="1"/>
          <p:nvPr/>
        </p:nvSpPr>
        <p:spPr>
          <a:xfrm>
            <a:off x="7269480" y="2240280"/>
            <a:ext cx="4343400" cy="731520"/>
          </a:xfrm>
          <a:prstGeom prst="rect">
            <a:avLst/>
          </a:prstGeom>
          <a:noFill/>
          <a:ln/>
        </p:spPr>
        <p:txBody>
          <a:bodyPr wrap="square" lIns="0" tIns="0" rIns="0" bIns="0" rtlCol="0" anchor="ctr"/>
          <a:lstStyle/>
          <a:p>
            <a:pPr indent="0" marL="0">
              <a:buNone/>
            </a:pPr>
            <a:r>
              <a:rPr lang="en-US" sz="1600" dirty="0">
                <a:solidFill>
                  <a:srgbClr val="FFFFFF"/>
                </a:solidFill>
              </a:rPr>
              <a:t>Time-stamped data to predict churn in the next 30 days</a:t>
            </a:r>
            <a:endParaRPr lang="en-US" sz="1600" dirty="0"/>
          </a:p>
        </p:txBody>
      </p:sp>
      <p:sp>
        <p:nvSpPr>
          <p:cNvPr id="9" name="Next step number 2"/>
          <p:cNvSpPr/>
          <p:nvPr/>
        </p:nvSpPr>
        <p:spPr>
          <a:xfrm>
            <a:off x="6492240" y="3200400"/>
            <a:ext cx="548640" cy="548640"/>
          </a:xfrm>
          <a:prstGeom prst="ellipse">
            <a:avLst/>
          </a:prstGeom>
          <a:solidFill>
            <a:srgbClr val="1B998B"/>
          </a:solidFill>
          <a:ln w="12700">
            <a:solidFill>
              <a:srgbClr val="1B998B"/>
            </a:solidFill>
            <a:prstDash val="solid"/>
          </a:ln>
        </p:spPr>
      </p:sp>
      <p:sp>
        <p:nvSpPr>
          <p:cNvPr id="10" name="Text 8"/>
          <p:cNvSpPr txBox="1"/>
          <p:nvPr/>
        </p:nvSpPr>
        <p:spPr>
          <a:xfrm>
            <a:off x="6492240" y="3200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7269480" y="3108960"/>
            <a:ext cx="4343400" cy="731520"/>
          </a:xfrm>
          <a:prstGeom prst="rect">
            <a:avLst/>
          </a:prstGeom>
          <a:noFill/>
          <a:ln/>
        </p:spPr>
        <p:txBody>
          <a:bodyPr wrap="square" lIns="0" tIns="0" rIns="0" bIns="0" rtlCol="0" anchor="ctr"/>
          <a:lstStyle/>
          <a:p>
            <a:pPr indent="0" marL="0">
              <a:buNone/>
            </a:pPr>
            <a:r>
              <a:rPr lang="en-US" sz="1600" dirty="0">
                <a:solidFill>
                  <a:srgbClr val="FFFFFF"/>
                </a:solidFill>
              </a:rPr>
              <a:t>A/B test scripts against a control group to measure the real save rate</a:t>
            </a:r>
            <a:endParaRPr lang="en-US" sz="1600" dirty="0"/>
          </a:p>
        </p:txBody>
      </p:sp>
      <p:sp>
        <p:nvSpPr>
          <p:cNvPr id="12" name="Next step number 3"/>
          <p:cNvSpPr/>
          <p:nvPr/>
        </p:nvSpPr>
        <p:spPr>
          <a:xfrm>
            <a:off x="6492240" y="4069080"/>
            <a:ext cx="548640" cy="548640"/>
          </a:xfrm>
          <a:prstGeom prst="ellipse">
            <a:avLst/>
          </a:prstGeom>
          <a:solidFill>
            <a:srgbClr val="1B998B"/>
          </a:solidFill>
          <a:ln w="12700">
            <a:solidFill>
              <a:srgbClr val="1B998B"/>
            </a:solidFill>
            <a:prstDash val="solid"/>
          </a:ln>
        </p:spPr>
      </p:sp>
      <p:sp>
        <p:nvSpPr>
          <p:cNvPr id="13" name="Text 11"/>
          <p:cNvSpPr txBox="1"/>
          <p:nvPr/>
        </p:nvSpPr>
        <p:spPr>
          <a:xfrm>
            <a:off x="6492240" y="4069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4" name="Text 12"/>
          <p:cNvSpPr txBox="1"/>
          <p:nvPr/>
        </p:nvSpPr>
        <p:spPr>
          <a:xfrm>
            <a:off x="7269480" y="3977640"/>
            <a:ext cx="4343400" cy="731520"/>
          </a:xfrm>
          <a:prstGeom prst="rect">
            <a:avLst/>
          </a:prstGeom>
          <a:noFill/>
          <a:ln/>
        </p:spPr>
        <p:txBody>
          <a:bodyPr wrap="square" lIns="0" tIns="0" rIns="0" bIns="0" rtlCol="0" anchor="ctr"/>
          <a:lstStyle/>
          <a:p>
            <a:pPr indent="0" marL="0">
              <a:buNone/>
            </a:pPr>
            <a:r>
              <a:rPr lang="en-US" sz="1600" dirty="0">
                <a:solidFill>
                  <a:srgbClr val="FFFFFF"/>
                </a:solidFill>
              </a:rPr>
              <a:t>Uplift model: target who is persuadable, not only at risk</a:t>
            </a:r>
            <a:endParaRPr lang="en-US" sz="1600" dirty="0"/>
          </a:p>
        </p:txBody>
      </p:sp>
      <p:sp>
        <p:nvSpPr>
          <p:cNvPr id="15" name="Next step number 4"/>
          <p:cNvSpPr/>
          <p:nvPr/>
        </p:nvSpPr>
        <p:spPr>
          <a:xfrm>
            <a:off x="6492240" y="4937760"/>
            <a:ext cx="548640" cy="548640"/>
          </a:xfrm>
          <a:prstGeom prst="ellipse">
            <a:avLst/>
          </a:prstGeom>
          <a:solidFill>
            <a:srgbClr val="1B998B"/>
          </a:solidFill>
          <a:ln w="12700">
            <a:solidFill>
              <a:srgbClr val="1B998B"/>
            </a:solidFill>
            <a:prstDash val="solid"/>
          </a:ln>
        </p:spPr>
      </p:sp>
      <p:sp>
        <p:nvSpPr>
          <p:cNvPr id="16" name="Text 14"/>
          <p:cNvSpPr txBox="1"/>
          <p:nvPr/>
        </p:nvSpPr>
        <p:spPr>
          <a:xfrm>
            <a:off x="6492240" y="49377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Text 15"/>
          <p:cNvSpPr txBox="1"/>
          <p:nvPr/>
        </p:nvSpPr>
        <p:spPr>
          <a:xfrm>
            <a:off x="7269480" y="4846320"/>
            <a:ext cx="4343400" cy="731520"/>
          </a:xfrm>
          <a:prstGeom prst="rect">
            <a:avLst/>
          </a:prstGeom>
          <a:noFill/>
          <a:ln/>
        </p:spPr>
        <p:txBody>
          <a:bodyPr wrap="square" lIns="0" tIns="0" rIns="0" bIns="0" rtlCol="0" anchor="ctr"/>
          <a:lstStyle/>
          <a:p>
            <a:pPr indent="0" marL="0">
              <a:buNone/>
            </a:pPr>
            <a:r>
              <a:rPr lang="en-US" sz="1600" dirty="0">
                <a:solidFill>
                  <a:srgbClr val="FFFFFF"/>
                </a:solidFill>
              </a:rPr>
              <a:t>Connect to the CRM so the call list refreshes nightly</a:t>
            </a:r>
            <a:endParaRPr lang="en-US" sz="1600" dirty="0"/>
          </a:p>
        </p:txBody>
      </p:sp>
      <p:sp>
        <p:nvSpPr>
          <p:cNvPr id="18" name="Text 16"/>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400" dirty="0">
                <a:solidFill>
                  <a:srgbClr val="CADCFC"/>
                </a:solidFill>
              </a:rPr>
              <a:t>GitHub repository: README, SQL, Python, dashboard and tests. Run: python run_pipeline.py, then streamlit run app/dashboard.py</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hurn Early Warning">
  <a:themeElements>
    <a:clrScheme name="Churn Early Warning">
      <a:dk1>
        <a:srgbClr val="1F2937"/>
      </a:dk1>
      <a:lt1>
        <a:srgbClr val="FFFFFF"/>
      </a:lt1>
      <a:dk2>
        <a:srgbClr val="12355B"/>
      </a:dk2>
      <a:lt2>
        <a:srgbClr val="F4F7FB"/>
      </a:lt2>
      <a:accent1>
        <a:srgbClr val="12355B"/>
      </a:accent1>
      <a:accent2>
        <a:srgbClr val="1B998B"/>
      </a:accent2>
      <a:accent3>
        <a:srgbClr val="E4572E"/>
      </a:accent3>
      <a:accent4>
        <a:srgbClr val="F2C14E"/>
      </a:accent4>
      <a:accent5>
        <a:srgbClr val="8A94A6"/>
      </a:accent5>
      <a:accent6>
        <a:srgbClr val="9BC4A8"/>
      </a:accent6>
      <a:hlink>
        <a:srgbClr val="1B998B"/>
      </a:hlink>
      <a:folHlink>
        <a:srgbClr val="8A94A6"/>
      </a:folHlink>
    </a:clrScheme>
    <a:fontScheme name="Churn Early War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Early-Warning Dashboard</dc:title>
  <dc:subject>BA6003 Database &amp; Programming - Final Project</dc:subject>
  <dc:creator>PptxGenJS</dc:creator>
  <cp:lastModifiedBy>PptxGenJS</cp:lastModifiedBy>
  <cp:revision>1</cp:revision>
  <dcterms:created xsi:type="dcterms:W3CDTF">2026-10-14T07:08:50Z</dcterms:created>
  <dcterms:modified xsi:type="dcterms:W3CDTF">2026-10-14T07:08:50Z</dcterms:modified>
</cp:coreProperties>
</file>